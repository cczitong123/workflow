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5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32" r:id="rId2"/>
    <p:sldMasterId id="2147483743" r:id="rId3"/>
    <p:sldMasterId id="2147483932" r:id="rId4"/>
    <p:sldMasterId id="2147483965" r:id="rId5"/>
    <p:sldMasterId id="2147483976" r:id="rId6"/>
  </p:sldMasterIdLst>
  <p:notesMasterIdLst>
    <p:notesMasterId r:id="rId13"/>
  </p:notesMasterIdLst>
  <p:sldIdLst>
    <p:sldId id="256" r:id="rId7"/>
    <p:sldId id="258" r:id="rId8"/>
    <p:sldId id="265" r:id="rId9"/>
    <p:sldId id="266" r:id="rId10"/>
    <p:sldId id="262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20"/>
    <p:restoredTop sz="94654"/>
  </p:normalViewPr>
  <p:slideViewPr>
    <p:cSldViewPr snapToGrid="0">
      <p:cViewPr varScale="1">
        <p:scale>
          <a:sx n="90" d="100"/>
          <a:sy n="90" d="100"/>
        </p:scale>
        <p:origin x="6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E0A4B-1A77-4F77-BBBE-00EB465088E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EEF1B-0539-4DA1-8336-7A03EC0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4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EEF1B-0539-4DA1-8336-7A03EC0749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1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Expression Imag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C0EA-C5E4-4B38-A82B-5DB88B2D7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60000"/>
            <a:ext cx="9144000" cy="2376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title riviera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B778D-14CC-44F8-B85D-AF91542DD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752000"/>
            <a:ext cx="9144000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755F25-DC57-924E-81EE-91A8A24AC3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19225B-D58A-1343-9CDB-3855A35EA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62BA75-077D-7C4F-A438-1E5C60473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999" y="6153143"/>
            <a:ext cx="1420301" cy="3672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5ECA3D-DA26-7D55-3C06-D0CF3164103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85921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Imag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C9E978-0F7C-ED4A-A799-85FB4E6BFF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84000"/>
            <a:ext cx="9144000" cy="1538883"/>
          </a:xfrm>
        </p:spPr>
        <p:txBody>
          <a:bodyPr wrap="square" anchor="b">
            <a:sp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2-line title riviera </a:t>
            </a:r>
            <a:br>
              <a:rPr lang="en-US" dirty="0"/>
            </a:br>
            <a:r>
              <a:rPr lang="en-US" dirty="0"/>
              <a:t>long title second line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2A22E9F-A007-B048-AE60-09E8AA04BE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3194" y="4752000"/>
            <a:ext cx="8405611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12A58AC-626F-BE4C-9C5D-1235D4273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change the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43669C-D5F2-9C46-A3D1-951CBB1A0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79E3F0-B3A0-0B43-97DD-70AF65D75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999" y="6153143"/>
            <a:ext cx="1420301" cy="367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F7515-6A00-719B-9AF6-22776E83A97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37632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Light 1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C0EA-C5E4-4B38-A82B-5DB88B2D7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60000"/>
            <a:ext cx="9144000" cy="2376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1-line title riviera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B778D-14CC-44F8-B85D-AF91542DD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752000"/>
            <a:ext cx="9144000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755F25-DC57-924E-81EE-91A8A24AC3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23E8DF-563A-9346-8B0C-7988A8407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000" y="6166667"/>
            <a:ext cx="1404000" cy="3629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3FD4DC-B725-6F4B-9B9B-D209DA810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6C2F089-96F2-62EF-AB2C-37B4018C46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8134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Image Light 2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C9E978-0F7C-ED4A-A799-85FB4E6BFF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84000"/>
            <a:ext cx="9144000" cy="1538883"/>
          </a:xfrm>
        </p:spPr>
        <p:txBody>
          <a:bodyPr wrap="square" anchor="b">
            <a:sp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title riviera </a:t>
            </a:r>
            <a:br>
              <a:rPr lang="en-US" dirty="0"/>
            </a:br>
            <a:r>
              <a:rPr lang="en-US" dirty="0"/>
              <a:t>long title second line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2A22E9F-A007-B048-AE60-09E8AA04BE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3194" y="4752000"/>
            <a:ext cx="8405611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 Department  Date</a:t>
            </a:r>
            <a:endParaRPr lang="en-GB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12A58AC-626F-BE4C-9C5D-1235D4273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FC1FD5-7520-334B-9ECB-1ABC429DF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000" y="6166667"/>
            <a:ext cx="1404000" cy="3629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012276-F110-564F-9821-FEB3BE05E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7C620-D1BF-DEC2-9598-A8A84CF8304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98903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calisation Slid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7CD80-D8A4-FE43-8FDC-BFE40128B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3D1F79-3139-9E41-AF1E-2B8458E345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4800" cy="63787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E2DB05-7B9E-6444-A80E-81D4900FA9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8CF1D272-4661-2040-BCFE-CC5327AC94D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16000" y="1512000"/>
            <a:ext cx="5400000" cy="453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467EE6-4823-8B72-B407-E1392A9D3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35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7D843B-68F3-9F01-11DE-5256722CEA52}"/>
              </a:ext>
            </a:extLst>
          </p:cNvPr>
          <p:cNvSpPr/>
          <p:nvPr/>
        </p:nvSpPr>
        <p:spPr>
          <a:xfrm>
            <a:off x="6096001" y="0"/>
            <a:ext cx="6096000" cy="6381750"/>
          </a:xfrm>
          <a:prstGeom prst="rect">
            <a:avLst/>
          </a:prstGeom>
          <a:solidFill>
            <a:srgbClr val="D2D2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spcAft>
                <a:spcPts val="60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 b="0" i="0">
                <a:solidFill>
                  <a:schemeClr val="tx1"/>
                </a:solidFill>
                <a:latin typeface="Riviera Nights Medium" panose="020B0504000000000000" pitchFamily="34" charset="77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CB7C9-579F-7445-AD96-78269AC7CE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5803" y="1512000"/>
            <a:ext cx="5150197" cy="4372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87E6B7-5F1E-1042-AA80-8BCD78E7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E37E3A-99EA-C1C7-0E20-821D86F88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999" y="198000"/>
            <a:ext cx="5400001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674E481-CF0C-0097-B6DA-9958E94F31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20278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4800" cy="6379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4F115E2A-B84C-A94F-8D8F-4C4D71A1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41200" y="6570000"/>
            <a:ext cx="720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360E0E-54B4-E942-B0E0-D14AA90EF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47E254-A72B-C047-9C9D-30BEB3A9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A5BFD-4D0F-7D2C-20B8-11E2F6500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4B45C1-30FB-66A8-B25C-86401A9B5B1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4AABF3C-FA99-5AC0-19B5-5B7660429F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068471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38001"/>
            <a:ext cx="6096001" cy="294374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3420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4B8B3D-83D4-AA47-9F81-2413EECF8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ECDDB47-D1BD-41D4-F2BE-042A009A0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214ECE9-037E-12E4-BBBB-3D76E4BE30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EEE1651-B596-FBF1-AECE-486EFE31E3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312664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1A2D2CD8-DB38-B24D-AF5D-56AA32E9D7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0" y="0"/>
            <a:ext cx="8316000" cy="379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168D22-7742-B04F-86AA-CEBBDABC0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2263465-E086-7591-D61C-466E9664D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F0968D0-C2E0-5B4D-F525-9CDF6BCE1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5999" y="1512000"/>
            <a:ext cx="3419997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2665E07-D87B-9009-1167-978BD8CF7F5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897795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1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1A2D2CD8-DB38-B24D-AF5D-56AA32E9D7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2C2ED27E-7A88-A947-B0CA-93CE5043E2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4000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49889E-E0F3-454F-8E98-F8063C588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3924861-28CE-1C7D-F773-910661638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2327FA3-00D9-3129-60ED-12809936A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6000" y="1512000"/>
            <a:ext cx="3419998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40A1EA2-D48E-AAF4-0C7A-95B1EA24EC5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51644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186C55-BBE8-EB4C-9764-3FEFE202E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11041198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8F7C52B-F59B-32FA-1321-989CE507C9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7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085966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186C55-BBE8-EB4C-9764-3FEFE202E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F10FD9B-18B0-D8AF-6921-D3DA6E0D567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7200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A83B9C8-FE8C-BB39-901C-AA71C5A5AB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4088921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6000" cy="33273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548000"/>
            <a:ext cx="6096000" cy="332739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6BD23F4-2C6D-2B2D-7957-3C54501560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E74DD52A-3DF3-9254-40B7-740ED921B1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84800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F5D4BD-FB3E-A8EA-888A-53EA5D9FFD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553968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8000"/>
            <a:ext cx="3528000" cy="4248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4600" y="1548000"/>
            <a:ext cx="3528000" cy="4248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3200" y="1548000"/>
            <a:ext cx="3528000" cy="4248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FCC72D1-B8C8-A31B-E78D-EE521E9F61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861033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400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58000" y="1548000"/>
            <a:ext cx="3876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DD3B0C1-C1E0-F492-BC04-EF1CAA5D5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0" y="4319588"/>
            <a:ext cx="3643749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7D3EE99-5E2E-67D0-1BA7-4A21197263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4600" y="4319587"/>
            <a:ext cx="352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096DBAC9-D3BE-8D31-F161-E43ED4A106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7450" y="4319587"/>
            <a:ext cx="3643750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732015F-4A61-C7BA-C22E-D43494DDB7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688937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24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05200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D7E414D-3F6D-614F-8835-004EEE1E8C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782424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30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1600" y="1548000"/>
            <a:ext cx="30492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46400" y="1548000"/>
            <a:ext cx="30492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4000" y="1548000"/>
            <a:ext cx="30492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2556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05200" y="3672000"/>
            <a:ext cx="2556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4DAD46C6-CAD5-BFA7-7782-724AD7E178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08226" y="3672000"/>
            <a:ext cx="266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C7FD2EF-B3B9-0AA3-0A7E-3648BCD7F8A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50926" y="3672000"/>
            <a:ext cx="266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FF2A198-4218-B2A6-4FD3-3D71AE7446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872056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8000"/>
            <a:ext cx="2142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83729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76341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980035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07BBB04-D251-27DB-D847-905C562215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8161071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3683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4208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68417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1976702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1489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05221" y="3672000"/>
            <a:ext cx="2178000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30262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87843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AB3D52-6760-E955-3600-E874206EFA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62181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2775" y="1548000"/>
            <a:ext cx="1857225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5433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63163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93732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24299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E6514EC-AF55-D197-9379-D2E1A81820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54866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B083AD3-759F-2DA0-13B9-04638823DA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777416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2178001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13998" y="1548000"/>
            <a:ext cx="2177999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56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48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2775" y="3456000"/>
            <a:ext cx="1857225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543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3268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3252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0544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24299" y="3456000"/>
            <a:ext cx="1823522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2312F6A2-F2D9-7746-1569-2714A617B0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352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E6514EC-AF55-D197-9379-D2E1A81820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54866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9106051-2E44-18B7-D3A4-AA759C9A400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4732049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12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86800" y="15480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600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BDF6793-51DE-5D0B-099D-A5A1A045E32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-2800" y="40212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5921D8A3-979B-29E2-5F7D-37C978D8B9E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1200" y="4021200"/>
            <a:ext cx="6100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080272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E917193-1CAA-0B13-5470-814EA91DA4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3739320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4067175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58794" y="15480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703" y="3409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064375" y="5875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B57AB17-85E3-F7F3-9352-644F6C12BFA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8413" y="15480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993F0C2-23F6-88B0-3FCB-E2AFC50153B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-2800" y="4021200"/>
            <a:ext cx="4067175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9D59E027-FB3B-4816-9827-CA5F730BEDD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055994" y="40212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EF19ACDD-D6F2-F0B5-C1C3-286CCAECBD0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15613" y="40212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DDB5A621-A8B2-1C98-638A-E41104E301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140274" y="3409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6A6D0F4B-5BF1-AB60-20DC-81D8C7EDD8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124946" y="5875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D2A827-2B35-A1B3-2F40-5A2EE32A85A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6960061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9955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B57AB17-85E3-F7F3-9352-644F6C12BFA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130813" y="15480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FBDBD61-3C1F-A8FF-E3B8-2EF546EBE14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090384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52920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37592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DDB5A621-A8B2-1C98-638A-E41104E301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140347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6A6D0F4B-5BF1-AB60-20DC-81D8C7EDD8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25019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55758935-61B0-0754-9EE4-7640A2FA4B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-2800" y="40212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975CCDD2-2ABB-B070-1384-C04EAF0C67E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047155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A25A2A6D-F518-CBEF-4C93-1B29B64076A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28013" y="40212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BB978DD4-EAC1-621B-5544-02046556D9E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087584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62C3D064-267C-256C-42C6-CE7E69506F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102912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C29BFDA6-47E0-FF18-141D-1B2474AB9AF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87584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EDC6B7F-9A0A-10ED-45EA-2EC581EE38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843160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Words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800000"/>
            <a:ext cx="11764800" cy="2916000"/>
          </a:xfrm>
        </p:spPr>
        <p:txBody>
          <a:bodyPr anchor="ctr" anchorCtr="0"/>
          <a:lstStyle>
            <a:lvl1pPr algn="ctr">
              <a:lnSpc>
                <a:spcPct val="105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Highlight text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0ABD23-4F8B-D64D-8863-40CD1000E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53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– Imag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00000"/>
            <a:ext cx="10515600" cy="2916000"/>
          </a:xfrm>
        </p:spPr>
        <p:txBody>
          <a:bodyPr anchor="ctr" anchorCtr="0"/>
          <a:lstStyle>
            <a:lvl1pPr algn="ctr">
              <a:lnSpc>
                <a:spcPct val="105000"/>
              </a:lnSpc>
              <a:defRPr sz="5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497A09-0613-944E-9CDA-78EFF237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78F04999-D615-6D4F-AE6E-B0F582B6B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104" y="58104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change the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</p:spTree>
    <p:extLst>
      <p:ext uri="{BB962C8B-B14F-4D97-AF65-F5344CB8AC3E}">
        <p14:creationId xmlns:p14="http://schemas.microsoft.com/office/powerpoint/2010/main" val="3533254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– Imag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458390"/>
            <a:ext cx="10515600" cy="1599220"/>
          </a:xfrm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500" cap="none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Points can be highlighted in their own pull-out </a:t>
            </a:r>
            <a:br>
              <a:rPr lang="en-US" dirty="0"/>
            </a:br>
            <a:r>
              <a:rPr lang="en-US" dirty="0"/>
              <a:t>slides. Use these for small amounts of information, </a:t>
            </a:r>
            <a:br>
              <a:rPr lang="en-US" dirty="0"/>
            </a:br>
            <a:r>
              <a:rPr lang="en-US" dirty="0"/>
              <a:t>they must not be used as section dividers.</a:t>
            </a:r>
            <a:br>
              <a:rPr lang="en-US" dirty="0"/>
            </a:br>
            <a:r>
              <a:rPr lang="en-US" dirty="0"/>
              <a:t>Text must be set in Riviera Nights Light 25pt.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DF5F0D-821C-D347-B9DE-C17EAD0AF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84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- Expression Imag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800000"/>
            <a:ext cx="11764800" cy="2916000"/>
          </a:xfrm>
        </p:spPr>
        <p:txBody>
          <a:bodyPr anchor="ctr" anchorCtr="0"/>
          <a:lstStyle>
            <a:lvl1pPr algn="ctr">
              <a:lnSpc>
                <a:spcPct val="105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36A364-8C14-734E-9063-49ABB5B3C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4231E42-54C9-7949-ADA5-6302151CCD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104" y="58104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expression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</p:spTree>
    <p:extLst>
      <p:ext uri="{BB962C8B-B14F-4D97-AF65-F5344CB8AC3E}">
        <p14:creationId xmlns:p14="http://schemas.microsoft.com/office/powerpoint/2010/main" val="42773991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8C21F-E2ED-A94C-ACE8-5456D32CEA98}"/>
              </a:ext>
            </a:extLst>
          </p:cNvPr>
          <p:cNvSpPr txBox="1"/>
          <p:nvPr/>
        </p:nvSpPr>
        <p:spPr>
          <a:xfrm>
            <a:off x="3048946" y="3184301"/>
            <a:ext cx="6091707" cy="48939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buClr>
                <a:srgbClr val="F7A177"/>
              </a:buClr>
              <a:buSzPct val="120000"/>
              <a:buFont typeface="Riviera Nights Light"/>
              <a:buNone/>
            </a:pPr>
            <a:r>
              <a:rPr lang="en-GB" sz="2500" cap="all" spc="60" baseline="0" dirty="0">
                <a:solidFill>
                  <a:schemeClr val="bg1"/>
                </a:solidFill>
                <a:cs typeface="Arial"/>
              </a:rPr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170D35-CEC7-5E4E-8DD0-F8CF8B99A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889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8C21F-E2ED-A94C-ACE8-5456D32CEA98}"/>
              </a:ext>
            </a:extLst>
          </p:cNvPr>
          <p:cNvSpPr txBox="1"/>
          <p:nvPr/>
        </p:nvSpPr>
        <p:spPr>
          <a:xfrm>
            <a:off x="3048946" y="3184301"/>
            <a:ext cx="6091707" cy="48939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buClr>
                <a:srgbClr val="F7A177"/>
              </a:buClr>
              <a:buSzPct val="120000"/>
              <a:buFont typeface="Riviera Nights Light"/>
              <a:buNone/>
            </a:pPr>
            <a:r>
              <a:rPr lang="en-GB" sz="2500" cap="all" spc="60" baseline="0" dirty="0">
                <a:solidFill>
                  <a:schemeClr val="tx1"/>
                </a:solidFill>
                <a:cs typeface="Arial"/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361442-06A0-F095-D32C-394DCFFB1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374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05094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25239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Light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C0EA-C5E4-4B38-A82B-5DB88B2D7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60000"/>
            <a:ext cx="9144000" cy="2376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title riviera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B778D-14CC-44F8-B85D-AF91542DD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752000"/>
            <a:ext cx="9144000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755F25-DC57-924E-81EE-91A8A24AC3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6C2F089-96F2-62EF-AB2C-37B4018C46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1A2E4-7B80-341E-91B0-65ED0C31C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2BCECC-4AF5-F19B-D59F-C2D784642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999" y="6153143"/>
            <a:ext cx="1420301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63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calisation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3D1F79-3139-9E41-AF1E-2B8458E345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4800" cy="6381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E2DB05-7B9E-6444-A80E-81D4900FA9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 dirty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8CF1D272-4661-2040-BCFE-CC5327AC94D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16000" y="1512000"/>
            <a:ext cx="5400000" cy="453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467EE6-4823-8B72-B407-E1392A9D3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9F1682-89B4-7393-A1A6-E2A531912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491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4800" cy="6381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4F115E2A-B84C-A94F-8D8F-4C4D71A1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41200" y="6570000"/>
            <a:ext cx="720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360E0E-54B4-E942-B0E0-D14AA90EF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47E254-A72B-C047-9C9D-30BEB3A9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B45C1-30FB-66A8-B25C-86401A9B5B1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125552-517D-7884-C791-B0B860B34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7542557-9AB9-AEAB-B55F-108F77F97F6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0926239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38001"/>
            <a:ext cx="6096001" cy="294374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3420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CDDB47-D1BD-41D4-F2BE-042A009A0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214ECE9-037E-12E4-BBBB-3D76E4BE30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635E28-91A8-6D8B-F583-2A7441733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CCF80F-4481-021D-2E84-5BD248C3E7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9340491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263465-E086-7591-D61C-466E9664D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F0968D0-C2E0-5B4D-F525-9CDF6BCE1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5999" y="1512000"/>
            <a:ext cx="3419997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B04D8C-FA2A-FF01-E21E-24C9EE705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03BB0AB-5CB6-70A0-9350-FB61CFC98D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0709DF1F-F8F9-E1A2-2EE0-E0C1512A00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84D812DB-0A2E-483D-A7BE-2395223D6F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A0F498B-70C9-04F6-DC07-6EC8F5990D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0" y="0"/>
            <a:ext cx="8316000" cy="379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4907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24861-28CE-1C7D-F773-910661638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2327FA3-00D9-3129-60ED-12809936A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6000" y="1512000"/>
            <a:ext cx="3419998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6BF21-D184-04F3-C385-8FD042752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E928A78-C809-D4F8-491B-1D0F23580E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70C792CB-5920-B677-249D-995D664D572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5FC9A86-7B7C-FD73-6894-FC7AA393E4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1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34520-75AC-A176-DE1A-F8C013206A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988D4CC0-CAB0-BAB9-7EB8-3CBE83B39D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4000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0945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846C3-181E-42AF-88D6-2D408221E3D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11041198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99D8E5-5D5B-F5CD-346C-2F294D41F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56E98-2AC6-2789-ADE3-6E4FB368F3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8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607948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846C3-181E-42AF-88D6-2D408221E3D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 dirty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F10FD9B-18B0-D8AF-6921-D3DA6E0D567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7200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B7FBB7-A48C-FE3B-DDB0-9C037D0E0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4327365-03C4-D28C-858F-0CB4CA1F97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8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9581969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24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05200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C78592-89FA-94AA-EEB5-1DC72C989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8E62209-03E9-4163-E992-B7EF892AC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1057140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3683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4208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68417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1976702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1489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05221" y="3672000"/>
            <a:ext cx="2178000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30262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87843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F4C61-F665-4F02-BA82-B2AAC8089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675C1E9-18ED-259A-BA9D-009B5DACF2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467208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75610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26836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7200" y="0"/>
            <a:ext cx="6094800" cy="6381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4F115E2A-B84C-A94F-8D8F-4C4D71A1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41200" y="6570000"/>
            <a:ext cx="720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360E0E-54B4-E942-B0E0-D14AA90EF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47E254-A72B-C047-9C9D-30BEB3A9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63F2B9-0F36-E5AF-B65E-27F51DDE9E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B45C1-30FB-66A8-B25C-86401A9B5B1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 dirty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5FB04D-789A-F133-0664-6962998A6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373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6000" cy="33273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548000"/>
            <a:ext cx="6096000" cy="332739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6BD23F4-2C6D-2B2D-7957-3C54501560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E74DD52A-3DF3-9254-40B7-740ED921B1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84800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33243-0CF7-3C41-9BA3-FEBC3B3E3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ACB263-9982-43DC-802A-28BCA2D904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335534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400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58000" y="1548000"/>
            <a:ext cx="3876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DD3B0C1-C1E0-F492-BC04-EF1CAA5D5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0" y="4319588"/>
            <a:ext cx="3643749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7D3EE99-5E2E-67D0-1BA7-4A21197263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4600" y="4319587"/>
            <a:ext cx="352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096DBAC9-D3BE-8D31-F161-E43ED4A106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7450" y="4319587"/>
            <a:ext cx="3643750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545BE-903A-9168-296B-61E0207EC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90468FF-8130-97AA-2C12-C6FC768651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1261245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3683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4208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68417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1976702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1489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05221" y="3672000"/>
            <a:ext cx="2178000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30262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87843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57E6DB-0B93-8800-8367-952F6E1E2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4F95052-4783-295D-7595-482DE5CAA9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6411411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2178001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13998" y="1548000"/>
            <a:ext cx="2177999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56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48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2775" y="3456000"/>
            <a:ext cx="1857225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543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3268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3252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0544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24299" y="3456000"/>
            <a:ext cx="1823522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2312F6A2-F2D9-7746-1569-2714A617B0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352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E6514EC-AF55-D197-9379-D2E1A81820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54866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B5B903-7B65-172D-9512-9696333B0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11DA222-3091-BF8F-E339-2BF14DCD0F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70684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522539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12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86800" y="15480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600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BDF6793-51DE-5D0B-099D-A5A1A045E32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-2800" y="40212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5921D8A3-979B-29E2-5F7D-37C978D8B9E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1200" y="4021200"/>
            <a:ext cx="6100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080272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A68C2A-47D0-0E7A-F206-FBA52C525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B6031D-40F8-E1C3-7CDA-A3007E4485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5234007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9955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B57AB17-85E3-F7F3-9352-644F6C12BFA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130813" y="15480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FBDBD61-3C1F-A8FF-E3B8-2EF546EBE14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090384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52920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37592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DDB5A621-A8B2-1C98-638A-E41104E301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140347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6A6D0F4B-5BF1-AB60-20DC-81D8C7EDD8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25019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55758935-61B0-0754-9EE4-7640A2FA4B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-2800" y="40212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975CCDD2-2ABB-B070-1384-C04EAF0C67E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047155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A25A2A6D-F518-CBEF-4C93-1B29B64076A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28013" y="40212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BB978DD4-EAC1-621B-5544-02046556D9E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087584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62C3D064-267C-256C-42C6-CE7E69506F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102912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C29BFDA6-47E0-FF18-141D-1B2474AB9AF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87584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BDEC60-BA27-E4BD-BB35-6970F7E34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81C4D9B-C373-DCCD-7CDA-55BE510A57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7922646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 Landscape - Ultra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EEE8-0AFB-417A-A459-A5D80366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00"/>
            <a:ext cx="11761200" cy="34624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AC06DFF9-DEA6-CE43-A079-55E1D2C554F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12725" y="1530351"/>
            <a:ext cx="11763375" cy="227443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Chart Placeholder 10">
            <a:extLst>
              <a:ext uri="{FF2B5EF4-FFF2-40B4-BE49-F238E27FC236}">
                <a16:creationId xmlns:a16="http://schemas.microsoft.com/office/drawing/2014/main" id="{9DB6D704-B141-0248-875A-6A65845E199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88286" y="4170786"/>
            <a:ext cx="11763375" cy="216151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B80BD-6B90-DF54-8D34-5E7B147F0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1F3C3C-83AF-44E7-FBB4-97185ED7D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760001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6063466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3654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34137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Expression Imag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C0EA-C5E4-4B38-A82B-5DB88B2D7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60000"/>
            <a:ext cx="9144000" cy="2376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title riviera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B778D-14CC-44F8-B85D-AF91542DD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752000"/>
            <a:ext cx="9144000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755F25-DC57-924E-81EE-91A8A24AC3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19225B-D58A-1343-9CDB-3855A35EA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62BA75-077D-7C4F-A438-1E5C60473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999" y="6153143"/>
            <a:ext cx="1420301" cy="3672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5ECA3D-DA26-7D55-3C06-D0CF3164103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6190422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Imag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C9E978-0F7C-ED4A-A799-85FB4E6BFF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84000"/>
            <a:ext cx="9144000" cy="1538883"/>
          </a:xfrm>
        </p:spPr>
        <p:txBody>
          <a:bodyPr wrap="square" anchor="b">
            <a:sp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2-line title riviera </a:t>
            </a:r>
            <a:br>
              <a:rPr lang="en-US" dirty="0"/>
            </a:br>
            <a:r>
              <a:rPr lang="en-US" dirty="0"/>
              <a:t>long title second line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2A22E9F-A007-B048-AE60-09E8AA04BE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3194" y="4752000"/>
            <a:ext cx="8405611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12A58AC-626F-BE4C-9C5D-1235D4273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change the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43669C-D5F2-9C46-A3D1-951CBB1A0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79E3F0-B3A0-0B43-97DD-70AF65D75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999" y="6153143"/>
            <a:ext cx="1420301" cy="367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F7515-6A00-719B-9AF6-22776E83A97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93653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Light 1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C0EA-C5E4-4B38-A82B-5DB88B2D7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60000"/>
            <a:ext cx="9144000" cy="2376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1-line title riviera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B778D-14CC-44F8-B85D-AF91542DD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752000"/>
            <a:ext cx="9144000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755F25-DC57-924E-81EE-91A8A24AC3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23E8DF-563A-9346-8B0C-7988A8407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000" y="6166667"/>
            <a:ext cx="1404000" cy="3629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3FD4DC-B725-6F4B-9B9B-D209DA810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6C2F089-96F2-62EF-AB2C-37B4018C46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3398883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Image Light 2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C9E978-0F7C-ED4A-A799-85FB4E6BFF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84000"/>
            <a:ext cx="9144000" cy="1538883"/>
          </a:xfrm>
        </p:spPr>
        <p:txBody>
          <a:bodyPr wrap="square" anchor="b">
            <a:sp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2-line title riviera </a:t>
            </a:r>
            <a:br>
              <a:rPr lang="en-US" dirty="0"/>
            </a:br>
            <a:r>
              <a:rPr lang="en-US" dirty="0"/>
              <a:t>long title second line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2A22E9F-A007-B048-AE60-09E8AA04BE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3194" y="4752000"/>
            <a:ext cx="8405611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 Department  Date</a:t>
            </a:r>
            <a:endParaRPr lang="en-GB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12A58AC-626F-BE4C-9C5D-1235D4273B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FC1FD5-7520-334B-9ECB-1ABC429DF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000" y="6166667"/>
            <a:ext cx="1404000" cy="3629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012276-F110-564F-9821-FEB3BE05E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7C620-D1BF-DEC2-9598-A8A84CF8304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3552082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calisation Slid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7CD80-D8A4-FE43-8FDC-BFE40128B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3D1F79-3139-9E41-AF1E-2B8458E345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4800" cy="63787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E2DB05-7B9E-6444-A80E-81D4900FA9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8CF1D272-4661-2040-BCFE-CC5327AC94D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16000" y="1512000"/>
            <a:ext cx="5400000" cy="453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467EE6-4823-8B72-B407-E1392A9D3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32348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7D843B-68F3-9F01-11DE-5256722CEA52}"/>
              </a:ext>
            </a:extLst>
          </p:cNvPr>
          <p:cNvSpPr/>
          <p:nvPr/>
        </p:nvSpPr>
        <p:spPr>
          <a:xfrm>
            <a:off x="6096001" y="0"/>
            <a:ext cx="6096000" cy="6381750"/>
          </a:xfrm>
          <a:prstGeom prst="rect">
            <a:avLst/>
          </a:prstGeom>
          <a:solidFill>
            <a:srgbClr val="D2D2D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spcAft>
                <a:spcPts val="60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 b="0" i="0">
                <a:solidFill>
                  <a:schemeClr val="tx1"/>
                </a:solidFill>
                <a:latin typeface="Riviera Nights Medium" panose="020B0504000000000000" pitchFamily="34" charset="77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CB7C9-579F-7445-AD96-78269AC7CE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5803" y="1512000"/>
            <a:ext cx="5150197" cy="4372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87E6B7-5F1E-1042-AA80-8BCD78E7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E37E3A-99EA-C1C7-0E20-821D86F88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999" y="198000"/>
            <a:ext cx="5400001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674E481-CF0C-0097-B6DA-9958E94F31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746726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4800" cy="6379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4F115E2A-B84C-A94F-8D8F-4C4D71A1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41200" y="6570000"/>
            <a:ext cx="720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360E0E-54B4-E942-B0E0-D14AA90EF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47E254-A72B-C047-9C9D-30BEB3A9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A5BFD-4D0F-7D2C-20B8-11E2F6500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4B45C1-30FB-66A8-B25C-86401A9B5B1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4AABF3C-FA99-5AC0-19B5-5B7660429F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296418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38001"/>
            <a:ext cx="6096001" cy="294374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3420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4B8B3D-83D4-AA47-9F81-2413EECF8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ECDDB47-D1BD-41D4-F2BE-042A009A0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214ECE9-037E-12E4-BBBB-3D76E4BE30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EEE1651-B596-FBF1-AECE-486EFE31E3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599780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1A2D2CD8-DB38-B24D-AF5D-56AA32E9D7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0" y="0"/>
            <a:ext cx="8316000" cy="379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168D22-7742-B04F-86AA-CEBBDABC0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2263465-E086-7591-D61C-466E9664D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F0968D0-C2E0-5B4D-F525-9CDF6BCE1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5999" y="1512000"/>
            <a:ext cx="3419997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2665E07-D87B-9009-1167-978BD8CF7F5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02751395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1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1A2D2CD8-DB38-B24D-AF5D-56AA32E9D7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2C2ED27E-7A88-A947-B0CA-93CE5043E2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4000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49889E-E0F3-454F-8E98-F8063C588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3924861-28CE-1C7D-F773-910661638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2327FA3-00D9-3129-60ED-12809936A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6000" y="1512000"/>
            <a:ext cx="3419998" cy="4373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40A1EA2-D48E-AAF4-0C7A-95B1EA24EC5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921190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186C55-BBE8-EB4C-9764-3FEFE202E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11041198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8F7C52B-F59B-32FA-1321-989CE507C9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7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4462200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186C55-BBE8-EB4C-9764-3FEFE202E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F10FD9B-18B0-D8AF-6921-D3DA6E0D567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7200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A83B9C8-FE8C-BB39-901C-AA71C5A5AB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8839080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6000" cy="33273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548000"/>
            <a:ext cx="6096000" cy="332739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6BD23F4-2C6D-2B2D-7957-3C54501560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E74DD52A-3DF3-9254-40B7-740ED921B1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84800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F5D4BD-FB3E-A8EA-888A-53EA5D9FFD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708704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8000"/>
            <a:ext cx="3528000" cy="4248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4600" y="1548000"/>
            <a:ext cx="3528000" cy="4248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3200" y="1548000"/>
            <a:ext cx="3528000" cy="4248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FCC72D1-B8C8-A31B-E78D-EE521E9F61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50077154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400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58000" y="1548000"/>
            <a:ext cx="3876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DD3B0C1-C1E0-F492-BC04-EF1CAA5D5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0" y="4319588"/>
            <a:ext cx="3643749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7D3EE99-5E2E-67D0-1BA7-4A21197263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4600" y="4319587"/>
            <a:ext cx="352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096DBAC9-D3BE-8D31-F161-E43ED4A106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7450" y="4319587"/>
            <a:ext cx="3643750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732015F-4A61-C7BA-C22E-D43494DDB7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402856814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24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05200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D7E414D-3F6D-614F-8835-004EEE1E8C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0615562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30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1600" y="1548000"/>
            <a:ext cx="30492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46400" y="1548000"/>
            <a:ext cx="30492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4000" y="1548000"/>
            <a:ext cx="30492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2556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05200" y="3672000"/>
            <a:ext cx="2556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4DAD46C6-CAD5-BFA7-7782-724AD7E178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08226" y="3672000"/>
            <a:ext cx="266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C7FD2EF-B3B9-0AA3-0A7E-3648BCD7F8A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50926" y="3672000"/>
            <a:ext cx="266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FF2A198-4218-B2A6-4FD3-3D71AE7446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627189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8000"/>
            <a:ext cx="2142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83729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76341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980035" y="1548000"/>
            <a:ext cx="2178000" cy="450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07BBB04-D251-27DB-D847-905C562215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8429298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3683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4208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68417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1976702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1489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05221" y="3672000"/>
            <a:ext cx="2178000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30262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87843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AB3D52-6760-E955-3600-E874206EFA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3711962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2775" y="1548000"/>
            <a:ext cx="1857225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5433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63163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93732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24299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E6514EC-AF55-D197-9379-D2E1A81820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54866" y="1548000"/>
            <a:ext cx="1854000" cy="4320000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B083AD3-759F-2DA0-13B9-04638823DA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6288800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2178001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13998" y="1548000"/>
            <a:ext cx="2177999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56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48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2775" y="3456000"/>
            <a:ext cx="1857225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543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3268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3252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0544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24299" y="3456000"/>
            <a:ext cx="1823522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2312F6A2-F2D9-7746-1569-2714A617B0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352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E6514EC-AF55-D197-9379-D2E1A81820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54866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9106051-2E44-18B7-D3A4-AA759C9A400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75353173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12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86800" y="15480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600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BDF6793-51DE-5D0B-099D-A5A1A045E32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-2800" y="40212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5921D8A3-979B-29E2-5F7D-37C978D8B9E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1200" y="4021200"/>
            <a:ext cx="6100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080272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E917193-1CAA-0B13-5470-814EA91DA4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5919903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4067175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58794" y="15480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703" y="3409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064375" y="5875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B57AB17-85E3-F7F3-9352-644F6C12BFA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18413" y="15480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993F0C2-23F6-88B0-3FCB-E2AFC50153B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-2800" y="4021200"/>
            <a:ext cx="4067175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9D59E027-FB3B-4816-9827-CA5F730BEDD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055994" y="40212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EF19ACDD-D6F2-F0B5-C1C3-286CCAECBD0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15613" y="4021200"/>
            <a:ext cx="40680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DDB5A621-A8B2-1C98-638A-E41104E301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140274" y="3409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6A6D0F4B-5BF1-AB60-20DC-81D8C7EDD8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124946" y="5875200"/>
            <a:ext cx="360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D2A827-2B35-A1B3-2F40-5A2EE32A85A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60835912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9955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B57AB17-85E3-F7F3-9352-644F6C12BFA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130813" y="15480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FBDBD61-3C1F-A8FF-E3B8-2EF546EBE14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090384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35D8B0-3E36-62D7-15AC-7C9447868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52920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37592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DDB5A621-A8B2-1C98-638A-E41104E301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140347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6A6D0F4B-5BF1-AB60-20DC-81D8C7EDD8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25019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55758935-61B0-0754-9EE4-7640A2FA4B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-2800" y="40212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975CCDD2-2ABB-B070-1384-C04EAF0C67E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047155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A25A2A6D-F518-CBEF-4C93-1B29B64076A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28013" y="40212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BB978DD4-EAC1-621B-5544-02046556D9E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087584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62C3D064-267C-256C-42C6-CE7E69506F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102912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C29BFDA6-47E0-FF18-141D-1B2474AB9AF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87584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/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EDC6B7F-9A0A-10ED-45EA-2EC581EE38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61000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70970524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Words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800000"/>
            <a:ext cx="11764800" cy="2916000"/>
          </a:xfrm>
        </p:spPr>
        <p:txBody>
          <a:bodyPr anchor="ctr" anchorCtr="0"/>
          <a:lstStyle>
            <a:lvl1pPr algn="ctr">
              <a:lnSpc>
                <a:spcPct val="105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Highlight text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0ABD23-4F8B-D64D-8863-40CD1000E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6099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– Imag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00000"/>
            <a:ext cx="10515600" cy="2916000"/>
          </a:xfrm>
        </p:spPr>
        <p:txBody>
          <a:bodyPr anchor="ctr" anchorCtr="0"/>
          <a:lstStyle>
            <a:lvl1pPr algn="ctr">
              <a:lnSpc>
                <a:spcPct val="105000"/>
              </a:lnSpc>
              <a:defRPr sz="5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497A09-0613-944E-9CDA-78EFF237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78F04999-D615-6D4F-AE6E-B0F582B6B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104" y="58104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change the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</p:spTree>
    <p:extLst>
      <p:ext uri="{BB962C8B-B14F-4D97-AF65-F5344CB8AC3E}">
        <p14:creationId xmlns:p14="http://schemas.microsoft.com/office/powerpoint/2010/main" val="1394935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– Imag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458390"/>
            <a:ext cx="10515600" cy="1599220"/>
          </a:xfrm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500" cap="none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Points can be highlighted in their own pull-out </a:t>
            </a:r>
            <a:br>
              <a:rPr lang="en-US" dirty="0"/>
            </a:br>
            <a:r>
              <a:rPr lang="en-US" dirty="0"/>
              <a:t>slides. Use these for small amounts of information, </a:t>
            </a:r>
            <a:br>
              <a:rPr lang="en-US" dirty="0"/>
            </a:br>
            <a:r>
              <a:rPr lang="en-US" dirty="0"/>
              <a:t>they must not be used as section dividers.</a:t>
            </a:r>
            <a:br>
              <a:rPr lang="en-US" dirty="0"/>
            </a:br>
            <a:r>
              <a:rPr lang="en-US" dirty="0"/>
              <a:t>Text must be set in Riviera Nights Light 25pt.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DF5F0D-821C-D347-B9DE-C17EAD0AF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0940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- Expression Imag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415-9ABB-468D-8000-D4709829B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2400" y="1800000"/>
            <a:ext cx="11764800" cy="2916000"/>
          </a:xfrm>
        </p:spPr>
        <p:txBody>
          <a:bodyPr anchor="ctr" anchorCtr="0"/>
          <a:lstStyle>
            <a:lvl1pPr algn="ctr">
              <a:lnSpc>
                <a:spcPct val="105000"/>
              </a:lnSpc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36A364-8C14-734E-9063-49ABB5B3C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4231E42-54C9-7949-ADA5-6302151CCD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104" y="58104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expression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</p:spTree>
    <p:extLst>
      <p:ext uri="{BB962C8B-B14F-4D97-AF65-F5344CB8AC3E}">
        <p14:creationId xmlns:p14="http://schemas.microsoft.com/office/powerpoint/2010/main" val="622935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8C21F-E2ED-A94C-ACE8-5456D32CEA98}"/>
              </a:ext>
            </a:extLst>
          </p:cNvPr>
          <p:cNvSpPr txBox="1"/>
          <p:nvPr/>
        </p:nvSpPr>
        <p:spPr>
          <a:xfrm>
            <a:off x="3048946" y="3184301"/>
            <a:ext cx="6091707" cy="48939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buClr>
                <a:srgbClr val="F7A177"/>
              </a:buClr>
              <a:buSzPct val="120000"/>
              <a:buFont typeface="Riviera Nights Light"/>
              <a:buNone/>
            </a:pPr>
            <a:r>
              <a:rPr lang="en-GB" sz="2500" cap="all" spc="60" baseline="0" dirty="0">
                <a:solidFill>
                  <a:schemeClr val="bg1"/>
                </a:solidFill>
                <a:cs typeface="Arial"/>
              </a:rPr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170D35-CEC7-5E4E-8DD0-F8CF8B99A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3232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59A6-C59F-470E-8BF8-9282D0F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F99-F82C-479E-9C97-B331F9BE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5E3A-598C-46E1-8CB4-7AF17A27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E749-01C5-8543-BB9E-312EBD18147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tx1"/>
                </a:solidFill>
              </a:rPr>
              <a:t>Rolls-Royce Motor Cars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8C21F-E2ED-A94C-ACE8-5456D32CEA98}"/>
              </a:ext>
            </a:extLst>
          </p:cNvPr>
          <p:cNvSpPr txBox="1"/>
          <p:nvPr/>
        </p:nvSpPr>
        <p:spPr>
          <a:xfrm>
            <a:off x="3048946" y="3184301"/>
            <a:ext cx="6091707" cy="48939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buClr>
                <a:srgbClr val="F7A177"/>
              </a:buClr>
              <a:buSzPct val="120000"/>
              <a:buFont typeface="Riviera Nights Light"/>
              <a:buNone/>
            </a:pPr>
            <a:r>
              <a:rPr lang="en-GB" sz="2500" cap="all" spc="60" baseline="0" dirty="0">
                <a:solidFill>
                  <a:schemeClr val="tx1"/>
                </a:solidFill>
                <a:cs typeface="Arial"/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361442-06A0-F095-D32C-394DCFFB1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6483600"/>
            <a:ext cx="174682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833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469001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1249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Light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C0EA-C5E4-4B38-A82B-5DB88B2D7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60000"/>
            <a:ext cx="9144000" cy="2376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0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1-line title riviera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B778D-14CC-44F8-B85D-AF91542DD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752000"/>
            <a:ext cx="9144000" cy="221920"/>
          </a:xfrm>
        </p:spPr>
        <p:txBody>
          <a:bodyPr>
            <a:spAutoFit/>
          </a:bodyPr>
          <a:lstStyle>
            <a:lvl1pPr marL="0" indent="0" algn="ctr"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 Department  Date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755F25-DC57-924E-81EE-91A8A24AC3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104" y="6048000"/>
            <a:ext cx="3947440" cy="576000"/>
          </a:xfrm>
          <a:solidFill>
            <a:schemeClr val="accent5"/>
          </a:solidFill>
        </p:spPr>
        <p:txBody>
          <a:bodyPr lIns="72000" tIns="36000" rIns="72000" b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To add a background Image</a:t>
            </a:r>
            <a:br>
              <a:rPr lang="en-GB" dirty="0"/>
            </a:br>
            <a:r>
              <a:rPr lang="en-GB" dirty="0"/>
              <a:t>Right click and select ’Format Background’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6C2F089-96F2-62EF-AB2C-37B4018C46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524000" y="4212000"/>
            <a:ext cx="9144000" cy="221920"/>
          </a:xfrm>
        </p:spPr>
        <p:txBody>
          <a:bodyPr wrap="square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1A2E4-7B80-341E-91B0-65ED0C31C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00" y="337657"/>
            <a:ext cx="378000" cy="47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2BCECC-4AF5-F19B-D59F-C2D784642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999" y="6153143"/>
            <a:ext cx="1420301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896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calisation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3D1F79-3139-9E41-AF1E-2B8458E345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4800" cy="6381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E2DB05-7B9E-6444-A80E-81D4900FA9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 dirty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8CF1D272-4661-2040-BCFE-CC5327AC94D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16000" y="1512000"/>
            <a:ext cx="5400000" cy="453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467EE6-4823-8B72-B407-E1392A9D3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9F1682-89B4-7393-A1A6-E2A531912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1152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4800" cy="6381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4F115E2A-B84C-A94F-8D8F-4C4D71A1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41200" y="6570000"/>
            <a:ext cx="720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360E0E-54B4-E942-B0E0-D14AA90EF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47E254-A72B-C047-9C9D-30BEB3A9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B45C1-30FB-66A8-B25C-86401A9B5B1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125552-517D-7884-C791-B0B860B34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7542557-9AB9-AEAB-B55F-108F77F97F6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40357874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907674-F195-3E46-B556-01CB6DBDA6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38001"/>
            <a:ext cx="6096001" cy="294374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23FD24C-5186-BA4B-A439-FD5FC61512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3420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CDDB47-D1BD-41D4-F2BE-042A009A0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214ECE9-037E-12E4-BBBB-3D76E4BE30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635E28-91A8-6D8B-F583-2A7441733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CCF80F-4481-021D-2E84-5BD248C3E7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86837644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263465-E086-7591-D61C-466E9664D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F0968D0-C2E0-5B4D-F525-9CDF6BCE1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5999" y="1512000"/>
            <a:ext cx="3419997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B04D8C-FA2A-FF01-E21E-24C9EE705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03BB0AB-5CB6-70A0-9350-FB61CFC98D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0709DF1F-F8F9-E1A2-2EE0-E0C1512A00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84D812DB-0A2E-483D-A7BE-2395223D6F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798000"/>
            <a:ext cx="4158000" cy="2583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A0F498B-70C9-04F6-DC07-6EC8F5990D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0" y="0"/>
            <a:ext cx="8316000" cy="379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4361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4AA27-6650-6C4C-9F77-05D2D709DB11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440C0D-261A-E840-A2F0-B6E3B7D24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24861-28CE-1C7D-F773-910661638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3419998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2327FA3-00D9-3129-60ED-12809936A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6000" y="1512000"/>
            <a:ext cx="3419998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6BF21-D184-04F3-C385-8FD042752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E928A78-C809-D4F8-491B-1D0F23580EE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3419996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70C792CB-5920-B677-249D-995D664D572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6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5FC9A86-7B7C-FD73-6894-FC7AA393E4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6001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34520-75AC-A176-DE1A-F8C013206A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4000" y="3192894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988D4CC0-CAB0-BAB9-7EB8-3CBE83B39D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4000" y="0"/>
            <a:ext cx="4158000" cy="319289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4026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846C3-181E-42AF-88D6-2D408221E3D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11041198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99D8E5-5D5B-F5CD-346C-2F294D41F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56E98-2AC6-2789-ADE3-6E4FB368F3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8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82539397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846C3-181E-42AF-88D6-2D408221E3D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 dirty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290CC8B-5D25-69AA-0EE3-74885B15B0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041200" cy="3462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A86232-6DEE-9D33-5D62-38304793AD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999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F10FD9B-18B0-D8AF-6921-D3DA6E0D567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7200" y="1512000"/>
            <a:ext cx="5454000" cy="4350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B7FBB7-A48C-FE3B-DDB0-9C037D0E0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4327365-03C4-D28C-858F-0CB4CA1F97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041198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9217017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24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05200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08801" y="1547999"/>
            <a:ext cx="2556000" cy="4320000"/>
          </a:xfrm>
        </p:spPr>
        <p:txBody>
          <a:bodyPr/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C78592-89FA-94AA-EEB5-1DC72C989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8E62209-03E9-4163-E992-B7EF892AC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3941697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3683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4208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68417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1976702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1489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05221" y="3672000"/>
            <a:ext cx="2178000" cy="856388"/>
          </a:xfrm>
        </p:spPr>
        <p:txBody>
          <a:bodyPr wrap="square"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30262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87843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/>
            </a:lvl1pPr>
            <a:lvl2pPr marL="216000" indent="-108000"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F4C61-F665-4F02-BA82-B2AAC8089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675C1E9-18ED-259A-BA9D-009B5DACF2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594552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7200" y="0"/>
            <a:ext cx="6094800" cy="638175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70000" y="6570000"/>
            <a:ext cx="3546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84DEF-50B2-014B-9C44-7747606A87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512000"/>
            <a:ext cx="5400000" cy="4373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4F115E2A-B84C-A94F-8D8F-4C4D71A1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41200" y="6570000"/>
            <a:ext cx="720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360E0E-54B4-E942-B0E0-D14AA90EF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7200" y="6570000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47E254-A72B-C047-9C9D-30BEB3A9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5400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63F2B9-0F36-E5AF-B65E-27F51DDE9E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6000" y="547200"/>
            <a:ext cx="5400000" cy="3170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B45C1-30FB-66A8-B25C-86401A9B5B1E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 dirty="0">
                <a:solidFill>
                  <a:schemeClr val="bg1"/>
                </a:solidFill>
              </a:rPr>
              <a:t>Rolls-Royce Motor Cars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5FB04D-789A-F133-0664-6962998A6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0932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6000" cy="33273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548000"/>
            <a:ext cx="6096000" cy="332739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6BD23F4-2C6D-2B2D-7957-3C54501560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E74DD52A-3DF3-9254-40B7-740ED921B1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84800" y="5004000"/>
            <a:ext cx="3708000" cy="1021049"/>
          </a:xfrm>
        </p:spPr>
        <p:txBody>
          <a:bodyPr>
            <a:spAutoFit/>
          </a:bodyPr>
          <a:lstStyle>
            <a:lvl1pPr marL="108000" indent="-108000">
              <a:defRPr sz="1100"/>
            </a:lvl1pPr>
            <a:lvl2pPr marL="216000" indent="-108000">
              <a:defRPr sz="1100"/>
            </a:lvl2pPr>
            <a:lvl3pPr marL="324000" indent="-108000">
              <a:defRPr sz="1100"/>
            </a:lvl3pPr>
            <a:lvl4pPr marL="108000" indent="-108000">
              <a:defRPr sz="1100"/>
            </a:lvl4pPr>
            <a:lvl5pPr marL="108000" indent="-108000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33243-0CF7-3C41-9BA3-FEBC3B3E3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ACB263-9982-43DC-802A-28BCA2D904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63443971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4000" y="1548000"/>
            <a:ext cx="4158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58000" y="1548000"/>
            <a:ext cx="3876000" cy="26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DD3B0C1-C1E0-F492-BC04-EF1CAA5D5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0" y="4319588"/>
            <a:ext cx="3643749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7D3EE99-5E2E-67D0-1BA7-4A21197263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4600" y="4319587"/>
            <a:ext cx="352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096DBAC9-D3BE-8D31-F161-E43ED4A106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7450" y="4319587"/>
            <a:ext cx="3643750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545BE-903A-9168-296B-61E0207EC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90468FF-8130-97AA-2C12-C6FC768651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74441321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3683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4208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68417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672000"/>
            <a:ext cx="1976702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1489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0122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05221" y="3672000"/>
            <a:ext cx="2178000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302626" y="1548000"/>
            <a:ext cx="2448000" cy="201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878435" y="3672000"/>
            <a:ext cx="2178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57E6DB-0B93-8800-8367-952F6E1E2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4F95052-4783-295D-7595-482DE5CAA9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100983093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2178001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7A35C06-7037-174F-B0E4-07A4DCC7C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13998" y="1548000"/>
            <a:ext cx="2177999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F2EB354-CF28-A848-AE23-9DB35F56E56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56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48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2775" y="3456000"/>
            <a:ext cx="1857225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8DC8CEF-5D75-E6B2-A8AD-AC76ABBFA0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543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32683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FE5C4-8CA1-1E9B-2C93-44276AE5AD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3252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45F7D34-2097-79A0-1482-79C2432AB2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0544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3C3105EC-1969-8BC6-0064-C013385BB8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24299" y="3456000"/>
            <a:ext cx="1823522" cy="856388"/>
          </a:xfrm>
        </p:spPr>
        <p:txBody>
          <a:bodyPr wrap="square"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2312F6A2-F2D9-7746-1569-2714A617B0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35201" y="1548000"/>
            <a:ext cx="1962000" cy="154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E6514EC-AF55-D197-9379-D2E1A81820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154866" y="3456000"/>
            <a:ext cx="1854000" cy="856388"/>
          </a:xfrm>
        </p:spPr>
        <p:txBody>
          <a:bodyPr>
            <a:spAutoFit/>
          </a:bodyPr>
          <a:lstStyle>
            <a:lvl1pPr marL="108000" indent="-108000">
              <a:defRPr sz="900">
                <a:solidFill>
                  <a:schemeClr val="bg1"/>
                </a:solidFill>
              </a:defRPr>
            </a:lvl1pPr>
            <a:lvl2pPr marL="216000" indent="-108000">
              <a:defRPr sz="900">
                <a:solidFill>
                  <a:schemeClr val="bg1"/>
                </a:solidFill>
              </a:defRPr>
            </a:lvl2pPr>
            <a:lvl3pPr marL="324000" indent="-108000">
              <a:defRPr sz="900">
                <a:solidFill>
                  <a:schemeClr val="bg1"/>
                </a:solidFill>
              </a:defRPr>
            </a:lvl3pPr>
            <a:lvl4pPr marL="108000" indent="-108000">
              <a:defRPr sz="900">
                <a:solidFill>
                  <a:schemeClr val="bg1"/>
                </a:solidFill>
              </a:defRPr>
            </a:lvl4pPr>
            <a:lvl5pPr marL="108000" indent="-108000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B5B903-7B65-172D-9512-9696333B0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11DA222-3091-BF8F-E339-2BF14DCD0F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9" y="547200"/>
            <a:ext cx="11670684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76935778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60912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86800" y="15480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600" y="3409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BDF6793-51DE-5D0B-099D-A5A1A045E32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-2800" y="4021200"/>
            <a:ext cx="60984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5921D8A3-979B-29E2-5F7D-37C978D8B9E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1200" y="4021200"/>
            <a:ext cx="6100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080272" y="5875200"/>
            <a:ext cx="3780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A68C2A-47D0-0E7A-F206-FBA52C525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B6031D-40F8-E1C3-7CDA-A3007E4485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200203150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x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15B24-9925-CA4E-8864-6AB37132D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480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DBB163B5-1FCF-4DA9-1A44-F1CEBECCBA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9955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B57AB17-85E3-F7F3-9352-644F6C12BFA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130813" y="15480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FBDBD61-3C1F-A8FF-E3B8-2EF546EBE14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090384" y="15480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A116-4908-4BBC-8678-4BC684F2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7A241-503D-4A1A-8FA8-655B1FFE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5549BF-5EE7-744D-BC10-D95EF2874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CEEF77-1FB7-4F88-9A1A-5375F8CC0A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98000"/>
            <a:ext cx="11661000" cy="346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13E8F-4DDF-010B-4EAE-B16FB25D3C75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A604962-E0BB-9910-512B-772F24ADBF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6001" y="3409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0F37478-D0A2-4493-0CA6-232B03B03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052920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0411057-E5E5-58A0-C7D3-45016B77B3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673" y="5875200"/>
            <a:ext cx="2664000" cy="142603"/>
          </a:xfrm>
        </p:spPr>
        <p:txBody>
          <a:bodyPr wrap="square"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72215798-1CD3-E044-CE74-9AC0EF53D4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37592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DDB5A621-A8B2-1C98-638A-E41104E301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140347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6A6D0F4B-5BF1-AB60-20DC-81D8C7EDD8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25019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55758935-61B0-0754-9EE4-7640A2FA4B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-2800" y="4021200"/>
            <a:ext cx="3052763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975CCDD2-2ABB-B070-1384-C04EAF0C67E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047155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A25A2A6D-F518-CBEF-4C93-1B29B64076A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28013" y="4021200"/>
            <a:ext cx="3052800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BB978DD4-EAC1-621B-5544-02046556D9E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087584" y="4021200"/>
            <a:ext cx="3043237" cy="176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62C3D064-267C-256C-42C6-CE7E69506F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102912" y="3409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C29BFDA6-47E0-FF18-141D-1B2474AB9AF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87584" y="5875200"/>
            <a:ext cx="2844000" cy="142603"/>
          </a:xfrm>
        </p:spPr>
        <p:txBody>
          <a:bodyPr>
            <a:spAutoFit/>
          </a:bodyPr>
          <a:lstStyle>
            <a:lvl1pPr marL="108000" indent="-108000">
              <a:spcAft>
                <a:spcPts val="200"/>
              </a:spcAft>
              <a:defRPr sz="900">
                <a:solidFill>
                  <a:schemeClr val="bg1"/>
                </a:solidFill>
              </a:defRPr>
            </a:lvl1pPr>
            <a:lvl2pPr marL="108000" indent="0">
              <a:buNone/>
              <a:defRPr sz="900"/>
            </a:lvl2pPr>
            <a:lvl3pPr marL="324000" indent="-108000">
              <a:defRPr sz="900"/>
            </a:lvl3pPr>
            <a:lvl4pPr marL="108000" indent="-108000">
              <a:defRPr sz="900"/>
            </a:lvl4pPr>
            <a:lvl5pPr marL="108000" indent="-108000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BDEC60-BA27-E4BD-BB35-6970F7E34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81C4D9B-C373-DCCD-7CDA-55BE510A57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660999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383925062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 Landscape - Ultra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EEE8-0AFB-417A-A459-A5D80366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216000"/>
            <a:ext cx="11761200" cy="34624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EDC-4BB8-408E-A6DB-08470352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09C3-3407-4554-9FFB-CCA38A1D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7E1D-04A4-4AE0-967C-F9AAFB37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E7C24-D7EA-F747-93D4-3EDC81C0E177}"/>
              </a:ext>
            </a:extLst>
          </p:cNvPr>
          <p:cNvSpPr txBox="1"/>
          <p:nvPr/>
        </p:nvSpPr>
        <p:spPr>
          <a:xfrm>
            <a:off x="576000" y="6570000"/>
            <a:ext cx="1335574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700" cap="all" baseline="0">
                <a:solidFill>
                  <a:schemeClr val="bg1"/>
                </a:solidFill>
              </a:rPr>
              <a:t>Rolls-Royce Motor Cars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AC06DFF9-DEA6-CE43-A079-55E1D2C554F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12725" y="1530351"/>
            <a:ext cx="11763375" cy="227443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Chart Placeholder 10">
            <a:extLst>
              <a:ext uri="{FF2B5EF4-FFF2-40B4-BE49-F238E27FC236}">
                <a16:creationId xmlns:a16="http://schemas.microsoft.com/office/drawing/2014/main" id="{9DB6D704-B141-0248-875A-6A65845E199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88286" y="4170786"/>
            <a:ext cx="11763375" cy="216151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B80BD-6B90-DF54-8D34-5E7B147F0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673" y="6483600"/>
            <a:ext cx="174681" cy="2196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1F3C3C-83AF-44E7-FBB4-97185ED7D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5998" y="547200"/>
            <a:ext cx="11760001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subtitle </a:t>
            </a:r>
          </a:p>
        </p:txBody>
      </p:sp>
    </p:spTree>
    <p:extLst>
      <p:ext uri="{BB962C8B-B14F-4D97-AF65-F5344CB8AC3E}">
        <p14:creationId xmlns:p14="http://schemas.microsoft.com/office/powerpoint/2010/main" val="81929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3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86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85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9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44743-C96B-4FB2-8DC0-324587DE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98000"/>
            <a:ext cx="10515600" cy="34624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19F4-2CDC-4000-B59F-3B5FA0DF5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00" y="1512000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A495-8D00-4AAE-883C-7333E232D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30107" y="6570000"/>
            <a:ext cx="1331093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209D9-E292-4749-BF82-875164248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0000" y="6570000"/>
            <a:ext cx="41148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762FB-62F3-429B-A56B-EBCD97D38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EC72E0-3650-227C-F57A-BCA90D3F28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192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08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500"/>
        </a:spcAft>
        <a:buFont typeface="Times New Roman" panose="02020603050405020304" pitchFamily="18" charset="0"/>
        <a:buChar char="∙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324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44743-C96B-4FB2-8DC0-324587DE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98000"/>
            <a:ext cx="10515600" cy="34624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19F4-2CDC-4000-B59F-3B5FA0DF5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00" y="1512000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A495-8D00-4AAE-883C-7333E232D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30107" y="6570000"/>
            <a:ext cx="1331093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209D9-E292-4749-BF82-875164248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0000" y="6570000"/>
            <a:ext cx="41148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762FB-62F3-429B-A56B-EBCD97D38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A87AC-FC0A-79AC-CBC0-3E037F3185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4431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818" r:id="rId11"/>
    <p:sldLayoutId id="214748381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108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500"/>
        </a:spcAft>
        <a:buFont typeface="Times New Roman" panose="02020603050405020304" pitchFamily="18" charset="0"/>
        <a:buChar char="∙"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2pPr>
      <a:lvl3pPr marL="324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j-lt"/>
          <a:ea typeface="+mn-ea"/>
          <a:cs typeface="+mn-cs"/>
        </a:defRPr>
      </a:lvl4pPr>
      <a:lvl5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5pPr>
      <a:lvl6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324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44743-C96B-4FB2-8DC0-324587DE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98000"/>
            <a:ext cx="10515600" cy="34624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19F4-2CDC-4000-B59F-3B5FA0DF5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00" y="1512000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A495-8D00-4AAE-883C-7333E232D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30107" y="6570000"/>
            <a:ext cx="1331093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209D9-E292-4749-BF82-875164248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0000" y="6570000"/>
            <a:ext cx="41148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762FB-62F3-429B-A56B-EBCD97D38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BEEA2-CD01-7604-08EE-799381C5076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9869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816" r:id="rId9"/>
    <p:sldLayoutId id="2147483817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108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500"/>
        </a:spcAft>
        <a:buFont typeface="Times New Roman" panose="02020603050405020304" pitchFamily="18" charset="0"/>
        <a:buChar char="∙"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2pPr>
      <a:lvl3pPr marL="324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j-lt"/>
          <a:ea typeface="+mn-ea"/>
          <a:cs typeface="+mn-cs"/>
        </a:defRPr>
      </a:lvl4pPr>
      <a:lvl5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5pPr>
      <a:lvl6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324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44743-C96B-4FB2-8DC0-324587DE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98000"/>
            <a:ext cx="10515600" cy="34624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19F4-2CDC-4000-B59F-3B5FA0DF5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00" y="1512000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A495-8D00-4AAE-883C-7333E232D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30107" y="6570000"/>
            <a:ext cx="1331093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4A69D40-E355-364C-980E-0A078BF739DF}" type="datetimeFigureOut">
              <a:rPr kumimoji="1" lang="zh-CN" altLang="en-US" smtClean="0"/>
              <a:t>2026/2/4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209D9-E292-4749-BF82-875164248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0000" y="6570000"/>
            <a:ext cx="41148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762FB-62F3-429B-A56B-EBCD97D38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ACE2E7AE-7697-2D42-A285-182B2BF47E16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A0DA8-15A0-BC05-2CC0-AEB427B63D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6119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  <p:sldLayoutId id="2147483947" r:id="rId15"/>
    <p:sldLayoutId id="2147483948" r:id="rId16"/>
    <p:sldLayoutId id="2147483949" r:id="rId17"/>
    <p:sldLayoutId id="2147483950" r:id="rId18"/>
    <p:sldLayoutId id="2147483951" r:id="rId19"/>
    <p:sldLayoutId id="2147483952" r:id="rId20"/>
    <p:sldLayoutId id="2147483953" r:id="rId21"/>
    <p:sldLayoutId id="2147483954" r:id="rId22"/>
    <p:sldLayoutId id="2147483955" r:id="rId23"/>
    <p:sldLayoutId id="2147483956" r:id="rId24"/>
    <p:sldLayoutId id="2147483957" r:id="rId25"/>
    <p:sldLayoutId id="2147483958" r:id="rId26"/>
    <p:sldLayoutId id="2147483959" r:id="rId27"/>
    <p:sldLayoutId id="2147483960" r:id="rId28"/>
    <p:sldLayoutId id="2147483961" r:id="rId29"/>
    <p:sldLayoutId id="2147483962" r:id="rId30"/>
    <p:sldLayoutId id="2147483963" r:id="rId31"/>
    <p:sldLayoutId id="2147483964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08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500"/>
        </a:spcAft>
        <a:buFont typeface="Times New Roman" panose="02020603050405020304" pitchFamily="18" charset="0"/>
        <a:buChar char="∙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324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44743-C96B-4FB2-8DC0-324587DE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98000"/>
            <a:ext cx="10515600" cy="34624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19F4-2CDC-4000-B59F-3B5FA0DF5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00" y="1512000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A495-8D00-4AAE-883C-7333E232D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30107" y="6570000"/>
            <a:ext cx="1331093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209D9-E292-4749-BF82-875164248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0000" y="6570000"/>
            <a:ext cx="41148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762FB-62F3-429B-A56B-EBCD97D38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8D3C4-7FAC-3FC5-DE06-09DE524B57A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4900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108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500"/>
        </a:spcAft>
        <a:buFont typeface="Times New Roman" panose="02020603050405020304" pitchFamily="18" charset="0"/>
        <a:buChar char="∙"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2pPr>
      <a:lvl3pPr marL="324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j-lt"/>
          <a:ea typeface="+mn-ea"/>
          <a:cs typeface="+mn-cs"/>
        </a:defRPr>
      </a:lvl4pPr>
      <a:lvl5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5pPr>
      <a:lvl6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324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8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44743-C96B-4FB2-8DC0-324587DE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98000"/>
            <a:ext cx="10515600" cy="34624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19F4-2CDC-4000-B59F-3B5FA0DF5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00" y="1512000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A495-8D00-4AAE-883C-7333E232D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30107" y="6570000"/>
            <a:ext cx="1331093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209D9-E292-4749-BF82-875164248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0000" y="6570000"/>
            <a:ext cx="41148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762FB-62F3-429B-A56B-EBCD97D38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1200" y="657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fld id="{9B5846C3-181E-42AF-88D6-2D408221E3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16A53-728E-B6F3-C1B0-1D94801D1FF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70493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108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500"/>
        </a:spcAft>
        <a:buFont typeface="Times New Roman" panose="02020603050405020304" pitchFamily="18" charset="0"/>
        <a:buChar char="∙"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2pPr>
      <a:lvl3pPr marL="324000" indent="-108000" algn="l" defTabSz="914400" rtl="0" eaLnBrk="1" latinLnBrk="0" hangingPunct="1">
        <a:lnSpc>
          <a:spcPct val="108000"/>
        </a:lnSpc>
        <a:spcBef>
          <a:spcPts val="0"/>
        </a:spcBef>
        <a:spcAft>
          <a:spcPts val="200"/>
        </a:spcAft>
        <a:buFont typeface="Times New Roman" panose="02020603050405020304" pitchFamily="18" charset="0"/>
        <a:buChar char="∙"/>
        <a:tabLst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400" b="0" kern="1200">
          <a:solidFill>
            <a:schemeClr val="bg1"/>
          </a:solidFill>
          <a:latin typeface="+mj-lt"/>
          <a:ea typeface="+mn-ea"/>
          <a:cs typeface="+mn-cs"/>
        </a:defRPr>
      </a:lvl4pPr>
      <a:lvl5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5pPr>
      <a:lvl6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324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08000"/>
        </a:lnSpc>
        <a:spcBef>
          <a:spcPts val="0"/>
        </a:spcBef>
        <a:buFont typeface="Times New Roman" panose="02020603050405020304" pitchFamily="18" charset="0"/>
        <a:buChar char="∙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0764C-E1AF-3E2B-A488-7395F932F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0"/>
            <a:ext cx="9868525" cy="2387600"/>
          </a:xfrm>
        </p:spPr>
        <p:txBody>
          <a:bodyPr>
            <a:normAutofit/>
          </a:bodyPr>
          <a:lstStyle/>
          <a:p>
            <a:pPr algn="l"/>
            <a:r>
              <a:rPr lang="en-GB" altLang="zh-CN" sz="3200" b="1" dirty="0"/>
              <a:t>1: The Gap we face today</a:t>
            </a:r>
            <a:br>
              <a:rPr lang="en-GB" altLang="zh-CN" b="1" dirty="0"/>
            </a:b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0799ED-7E78-27CE-0700-BF96378C0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502" y="2103022"/>
            <a:ext cx="9358859" cy="3728152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Fragmented requirements across tools</a:t>
            </a:r>
            <a:br>
              <a:rPr lang="en-GB" altLang="zh-CN" sz="2400" dirty="0"/>
            </a:br>
            <a:r>
              <a:rPr lang="en-GB" altLang="zh-CN" sz="2400" dirty="0"/>
              <a:t>PRs, SRs in </a:t>
            </a:r>
            <a:r>
              <a:rPr lang="en-GB" altLang="zh-CN" sz="2400" dirty="0" err="1"/>
              <a:t>Codebeamer</a:t>
            </a:r>
            <a:r>
              <a:rPr lang="en-GB" altLang="zh-CN" sz="2400" dirty="0"/>
              <a:t>; Epics, Stories, Tasks in Jira, with implicit many-to-many links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No systematic support for requirement decomposition</a:t>
            </a:r>
            <a:br>
              <a:rPr lang="en-GB" altLang="zh-CN" sz="2400" dirty="0"/>
            </a:br>
            <a:r>
              <a:rPr lang="en-GB" altLang="zh-CN" sz="2400" dirty="0"/>
              <a:t>Transforming PRs, SRs, and Epics into Stories and Tasks is largely manual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High cost of bug understanding and localization</a:t>
            </a:r>
            <a:br>
              <a:rPr lang="en-GB" altLang="zh-CN" sz="2400" dirty="0"/>
            </a:br>
            <a:r>
              <a:rPr lang="en-GB" altLang="zh-CN" sz="2400" dirty="0"/>
              <a:t>Engineers must manually combine bug tickets, requirement context, and codebase information</a:t>
            </a:r>
          </a:p>
        </p:txBody>
      </p:sp>
    </p:spTree>
    <p:extLst>
      <p:ext uri="{BB962C8B-B14F-4D97-AF65-F5344CB8AC3E}">
        <p14:creationId xmlns:p14="http://schemas.microsoft.com/office/powerpoint/2010/main" val="193622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C596-9961-8449-0F43-64B57E2EC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34ADD-5101-ACFC-9235-2B9592FDE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0"/>
            <a:ext cx="11582401" cy="2387600"/>
          </a:xfrm>
        </p:spPr>
        <p:txBody>
          <a:bodyPr>
            <a:normAutofit/>
          </a:bodyPr>
          <a:lstStyle/>
          <a:p>
            <a:pPr algn="l"/>
            <a:r>
              <a:rPr lang="en-GB" altLang="zh-CN" sz="3200" b="1" dirty="0"/>
              <a:t>2: Why do existing LLM-based tools not solve these problems?</a:t>
            </a:r>
            <a:br>
              <a:rPr lang="en-GB" altLang="zh-CN" b="1" dirty="0"/>
            </a:br>
            <a:endParaRPr kumimoji="1" lang="zh-CN" altLang="en-US" dirty="0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2B0555BA-0890-0E49-71D8-18E145BCA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2103438"/>
            <a:ext cx="9359900" cy="372745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No cross-tool data reconstruction or semantic alignment</a:t>
            </a:r>
            <a:br>
              <a:rPr lang="en-GB" altLang="zh-CN" sz="2400" dirty="0"/>
            </a:br>
            <a:r>
              <a:rPr lang="en-GB" altLang="zh-CN" sz="2400" dirty="0"/>
              <a:t>Most tools assume clean, single-tool inputs and cannot resolve implicit PR-SR-Epic relations</a:t>
            </a:r>
          </a:p>
          <a:p>
            <a:pPr algn="l"/>
            <a:endParaRPr lang="en-GB" altLang="zh-CN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Limited support in bug review scenarios</a:t>
            </a:r>
            <a:br>
              <a:rPr lang="en-GB" altLang="zh-CN" sz="2400" dirty="0"/>
            </a:br>
            <a:r>
              <a:rPr lang="en-GB" altLang="zh-CN" sz="2400" dirty="0"/>
              <a:t>IDE assistants focus on local code context, without integrating requirement history and repo-wide signals</a:t>
            </a:r>
          </a:p>
        </p:txBody>
      </p:sp>
    </p:spTree>
    <p:extLst>
      <p:ext uri="{BB962C8B-B14F-4D97-AF65-F5344CB8AC3E}">
        <p14:creationId xmlns:p14="http://schemas.microsoft.com/office/powerpoint/2010/main" val="104117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6C33-E8FE-8FD6-6810-F523A0F0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00B94-9908-22F9-07D7-71251E83E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0"/>
            <a:ext cx="11582401" cy="2387600"/>
          </a:xfrm>
        </p:spPr>
        <p:txBody>
          <a:bodyPr>
            <a:normAutofit/>
          </a:bodyPr>
          <a:lstStyle/>
          <a:p>
            <a:pPr algn="l"/>
            <a:r>
              <a:rPr lang="en-GB" altLang="zh-CN" sz="3200" b="1" dirty="0"/>
              <a:t>3: What does our system introduce that didn’t exist before?</a:t>
            </a:r>
            <a:br>
              <a:rPr lang="en-GB" altLang="zh-CN" b="1" dirty="0"/>
            </a:br>
            <a:endParaRPr kumimoji="1" lang="zh-CN" altLang="en-US" dirty="0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0943FEE5-4C5E-05F4-4C3A-A209FB1F9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2103438"/>
            <a:ext cx="9745624" cy="3727450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Requirement coordination</a:t>
            </a:r>
            <a:br>
              <a:rPr lang="en-GB" altLang="zh-CN" sz="2400" dirty="0"/>
            </a:br>
            <a:r>
              <a:rPr lang="en-GB" altLang="zh-CN" sz="2400" dirty="0"/>
              <a:t>Reconstructs PRs, SRs, and Epics into structured inputs for consistent requirement decomposition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Learning from enterprise history</a:t>
            </a:r>
            <a:br>
              <a:rPr lang="en-GB" altLang="zh-CN" sz="2400" dirty="0"/>
            </a:br>
            <a:r>
              <a:rPr lang="en-GB" altLang="zh-CN" sz="2400" dirty="0"/>
              <a:t>Generate reviewable Stories and Tasks based on real historical projects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400" b="1" dirty="0"/>
              <a:t>Bug handling coordination</a:t>
            </a:r>
            <a:br>
              <a:rPr lang="en-GB" altLang="zh-CN" sz="2400" dirty="0"/>
            </a:br>
            <a:r>
              <a:rPr lang="en-GB" altLang="zh-CN" sz="2400" dirty="0"/>
              <a:t>Integrates bug tickets, requirement constraints, and repository retrieval to support localization and understanding.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altLang="zh-CN" b="1" dirty="0"/>
          </a:p>
        </p:txBody>
      </p:sp>
    </p:spTree>
    <p:extLst>
      <p:ext uri="{BB962C8B-B14F-4D97-AF65-F5344CB8AC3E}">
        <p14:creationId xmlns:p14="http://schemas.microsoft.com/office/powerpoint/2010/main" val="147195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E441-449B-C2F2-B161-1C9ABD73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ADE00-8FEE-B275-02BF-5019C151A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0"/>
            <a:ext cx="11582401" cy="2387600"/>
          </a:xfrm>
        </p:spPr>
        <p:txBody>
          <a:bodyPr>
            <a:normAutofit/>
          </a:bodyPr>
          <a:lstStyle/>
          <a:p>
            <a:pPr algn="l"/>
            <a:r>
              <a:rPr lang="en-GB" altLang="zh-CN" sz="3200" b="1" dirty="0"/>
              <a:t>4: What does our architecture make possible?</a:t>
            </a:r>
            <a:br>
              <a:rPr lang="en-GB" altLang="zh-CN" b="1" dirty="0"/>
            </a:br>
            <a:endParaRPr kumimoji="1" lang="zh-CN" altLang="en-US" dirty="0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ECD2273E-EFE5-74D8-E658-7BB1A8B08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4" y="2103438"/>
            <a:ext cx="10325487" cy="4330816"/>
          </a:xfrm>
        </p:spPr>
        <p:txBody>
          <a:bodyPr>
            <a:normAutofit fontScale="85000"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800" b="1" dirty="0"/>
              <a:t>Operate directly on raw artefacts</a:t>
            </a:r>
            <a:br>
              <a:rPr lang="en-GB" altLang="zh-CN" sz="2800" dirty="0"/>
            </a:br>
            <a:r>
              <a:rPr lang="en-GB" altLang="zh-CN" sz="2800" dirty="0"/>
              <a:t>Introduces a cross-tool reconstruction layer for </a:t>
            </a:r>
            <a:r>
              <a:rPr lang="en-GB" altLang="zh-CN" sz="2800" dirty="0" err="1"/>
              <a:t>Codebeamer</a:t>
            </a:r>
            <a:r>
              <a:rPr lang="en-GB" altLang="zh-CN" sz="2800" dirty="0"/>
              <a:t> and Jira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800" b="1" dirty="0"/>
              <a:t>More reliable requirements decomposition</a:t>
            </a:r>
            <a:br>
              <a:rPr lang="en-GB" altLang="zh-CN" sz="2800" dirty="0"/>
            </a:br>
            <a:r>
              <a:rPr lang="en-GB" altLang="zh-CN" sz="2800" dirty="0"/>
              <a:t>Learns organizational practices instead of only relying on generic LLM writing ability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800" b="1" dirty="0"/>
              <a:t>Evidence-backed bug analysis</a:t>
            </a:r>
            <a:br>
              <a:rPr lang="en-GB" altLang="zh-CN" sz="2800" dirty="0"/>
            </a:br>
            <a:r>
              <a:rPr lang="en-GB" altLang="zh-CN" sz="2800" dirty="0"/>
              <a:t>Combines tickets with repository retrieval, gives hypotheses and suggestions without automatic code changes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zh-CN" sz="2800" b="1" dirty="0"/>
              <a:t>Human-in-loop workflows</a:t>
            </a:r>
            <a:br>
              <a:rPr lang="en-GB" altLang="zh-CN" sz="2800" dirty="0"/>
            </a:br>
            <a:r>
              <a:rPr lang="en-GB" altLang="zh-CN" sz="2800" dirty="0"/>
              <a:t>From requirements to tasks to bug reviews, with human decision-making preserved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altLang="zh-CN" sz="1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48762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4CC5-D1B0-D7D5-E0FA-01F0F54F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8BDB1C-4600-033E-FE9B-56C1FC373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065" y="150338"/>
            <a:ext cx="5081925" cy="6557324"/>
          </a:xfrm>
          <a:prstGeom prst="rect">
            <a:avLst/>
          </a:prstGeom>
          <a:noFill/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6395BDC-D5EC-8EFB-4A84-7E6C27BC6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359600"/>
            <a:ext cx="5400000" cy="4373563"/>
          </a:xfrm>
        </p:spPr>
        <p:txBody>
          <a:bodyPr/>
          <a:lstStyle/>
          <a:p>
            <a:r>
              <a:rPr lang="en-US" dirty="0"/>
              <a:t>Integrates upstream requirements (PR/SR, Epics) and source code for rich context.</a:t>
            </a:r>
          </a:p>
          <a:p>
            <a:endParaRPr lang="en-US" dirty="0"/>
          </a:p>
          <a:p>
            <a:r>
              <a:rPr lang="en-US" dirty="0"/>
              <a:t>AI drafts specifications, stories, and requirements, surfacing open questions where context is missing.</a:t>
            </a:r>
          </a:p>
          <a:p>
            <a:endParaRPr lang="en-US" dirty="0"/>
          </a:p>
          <a:p>
            <a:r>
              <a:rPr lang="en-US" dirty="0"/>
              <a:t>Reviewers can answer questions through chat or directly edit drafts—enabling rapid, iterative refinement.</a:t>
            </a:r>
          </a:p>
          <a:p>
            <a:endParaRPr lang="en-US" dirty="0"/>
          </a:p>
          <a:p>
            <a:r>
              <a:rPr lang="en-US" dirty="0"/>
              <a:t>Code evidence is built once and reused for downstream work item generation.</a:t>
            </a:r>
          </a:p>
          <a:p>
            <a:endParaRPr lang="en-US" dirty="0"/>
          </a:p>
          <a:p>
            <a:r>
              <a:rPr lang="en-US" dirty="0"/>
              <a:t>Traceability layer links all artifacts and decisions back to original sources.</a:t>
            </a:r>
          </a:p>
          <a:p>
            <a:endParaRPr lang="en-US" dirty="0"/>
          </a:p>
          <a:p>
            <a:r>
              <a:rPr lang="en-US" dirty="0"/>
              <a:t>Finalized outputs are written to Jira and </a:t>
            </a:r>
            <a:r>
              <a:rPr lang="en-US" dirty="0" err="1"/>
              <a:t>Codebeamer</a:t>
            </a:r>
            <a:r>
              <a:rPr lang="en-US" dirty="0"/>
              <a:t> for execution and documentation.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2C7D8-7417-A79E-B33E-49AB1E8ECF89}"/>
              </a:ext>
            </a:extLst>
          </p:cNvPr>
          <p:cNvSpPr txBox="1"/>
          <p:nvPr/>
        </p:nvSpPr>
        <p:spPr>
          <a:xfrm>
            <a:off x="283732" y="541867"/>
            <a:ext cx="6432333" cy="582970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/>
              <a:t>Multi-Level AI-Assisted Requirements Workflow</a:t>
            </a:r>
            <a:endParaRPr lang="en-US" sz="3200" b="1" cap="all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1687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616F1C-54FC-E753-27C3-1FDAEB8CC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926" y="0"/>
            <a:ext cx="4002948" cy="6379200"/>
          </a:xfrm>
          <a:prstGeom prst="rect">
            <a:avLst/>
          </a:prstGeom>
          <a:noFill/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942A553-70F8-36E8-9637-717BB77277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00" y="1002818"/>
            <a:ext cx="5400000" cy="4373563"/>
          </a:xfrm>
        </p:spPr>
        <p:txBody>
          <a:bodyPr/>
          <a:lstStyle/>
          <a:p>
            <a:r>
              <a:rPr lang="en-US" dirty="0"/>
              <a:t>The process starts with a bug ticket, code repository, and related bug traces to gather essential incident data.</a:t>
            </a:r>
          </a:p>
          <a:p>
            <a:endParaRPr lang="en-US" dirty="0"/>
          </a:p>
          <a:p>
            <a:r>
              <a:rPr lang="en-US" dirty="0"/>
              <a:t>We automatically extract context from the ticket and provide a prompt field for users to add extra information or guiding questions upfront.</a:t>
            </a:r>
          </a:p>
          <a:p>
            <a:endParaRPr lang="en-US" dirty="0"/>
          </a:p>
          <a:p>
            <a:r>
              <a:rPr lang="en-US" dirty="0"/>
              <a:t>A pre-analyzer rapidly evaluates if the bug is likely caused by our application, helping us triage efficiently.</a:t>
            </a:r>
          </a:p>
          <a:p>
            <a:endParaRPr lang="en-US" dirty="0"/>
          </a:p>
          <a:p>
            <a:r>
              <a:rPr lang="en-US" dirty="0"/>
              <a:t>If it’s a repo issue, evidence is built and relevant files are identified before searching the codebase broadly.</a:t>
            </a:r>
          </a:p>
          <a:p>
            <a:endParaRPr lang="en-US" dirty="0"/>
          </a:p>
          <a:p>
            <a:r>
              <a:rPr lang="en-US" dirty="0"/>
              <a:t>An LLM generates analysis and hypotheses, while users can engage in chat-based Q&amp;A, both feeding into a refined expert review phase.</a:t>
            </a:r>
          </a:p>
          <a:p>
            <a:endParaRPr lang="en-US" dirty="0"/>
          </a:p>
          <a:p>
            <a:r>
              <a:rPr lang="en-US" dirty="0"/>
              <a:t>The process concludes with a structured report, optional fix suggestions, and an evidence trace pack, or an early exit if the bug isn’t our responsibility.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765D7-6625-421B-B95A-519145D3D44B}"/>
              </a:ext>
            </a:extLst>
          </p:cNvPr>
          <p:cNvSpPr txBox="1"/>
          <p:nvPr/>
        </p:nvSpPr>
        <p:spPr>
          <a:xfrm>
            <a:off x="334533" y="355254"/>
            <a:ext cx="5400000" cy="3462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cap="all" dirty="0">
                <a:ea typeface="+mj-ea"/>
                <a:cs typeface="+mj-cs"/>
              </a:rPr>
              <a:t>Code Review System</a:t>
            </a:r>
          </a:p>
        </p:txBody>
      </p:sp>
    </p:spTree>
    <p:extLst>
      <p:ext uri="{BB962C8B-B14F-4D97-AF65-F5344CB8AC3E}">
        <p14:creationId xmlns:p14="http://schemas.microsoft.com/office/powerpoint/2010/main" val="2779015590"/>
      </p:ext>
    </p:extLst>
  </p:cSld>
  <p:clrMapOvr>
    <a:masterClrMapping/>
  </p:clrMapOvr>
</p:sld>
</file>

<file path=ppt/theme/theme1.xml><?xml version="1.0" encoding="utf-8"?>
<a:theme xmlns:a="http://schemas.openxmlformats.org/drawingml/2006/main" name="Brand RR">
  <a:themeElements>
    <a:clrScheme name="RR 2">
      <a:dk1>
        <a:srgbClr val="000000"/>
      </a:dk1>
      <a:lt1>
        <a:sysClr val="window" lastClr="FFFFFF"/>
      </a:lt1>
      <a:dk2>
        <a:srgbClr val="676776"/>
      </a:dk2>
      <a:lt2>
        <a:srgbClr val="B4C7CD"/>
      </a:lt2>
      <a:accent1>
        <a:srgbClr val="281432"/>
      </a:accent1>
      <a:accent2>
        <a:srgbClr val="6D30A7"/>
      </a:accent2>
      <a:accent3>
        <a:srgbClr val="6FDBC7"/>
      </a:accent3>
      <a:accent4>
        <a:srgbClr val="F532D2"/>
      </a:accent4>
      <a:accent5>
        <a:srgbClr val="FF6432"/>
      </a:accent5>
      <a:accent6>
        <a:srgbClr val="F7A177"/>
      </a:accent6>
      <a:hlink>
        <a:srgbClr val="000000"/>
      </a:hlink>
      <a:folHlink>
        <a:srgbClr val="000000"/>
      </a:folHlink>
    </a:clrScheme>
    <a:fontScheme name="Rolls Royce New">
      <a:majorFont>
        <a:latin typeface="Riviera Nights Light"/>
        <a:ea typeface=""/>
        <a:cs typeface=""/>
      </a:majorFont>
      <a:minorFont>
        <a:latin typeface="Riviera Night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wrap="square" lIns="0" tIns="0" rIns="0" bIns="0" rtlCol="0" anchor="t" anchorCtr="0">
        <a:noAutofit/>
      </a:bodyPr>
      <a:lstStyle>
        <a:defPPr marL="0" indent="0" algn="l">
          <a:lnSpc>
            <a:spcPct val="100000"/>
          </a:lnSpc>
          <a:buClr>
            <a:srgbClr val="F7A177"/>
          </a:buClr>
          <a:buSzPct val="120000"/>
          <a:buFont typeface="Riviera Nights Light"/>
          <a:buNone/>
          <a:defRPr sz="2000" spc="5" dirty="0">
            <a:solidFill>
              <a:schemeClr val="bg1"/>
            </a:solidFill>
            <a:cs typeface="Arial"/>
          </a:defRPr>
        </a:defPPr>
      </a:lstStyle>
    </a:txDef>
  </a:objectDefaults>
  <a:extraClrSchemeLst/>
  <a:custClrLst>
    <a:custClr name="Steel">
      <a:srgbClr val="676776"/>
    </a:custClr>
    <a:custClr name="Pebble">
      <a:srgbClr val="D2D2D2"/>
    </a:custClr>
    <a:custClr name="Sky">
      <a:srgbClr val="B4C7CB"/>
    </a:custClr>
    <a:custClr name="Pearl">
      <a:srgbClr val="E7D2C3"/>
    </a:custClr>
    <a:custClr name="Sunset">
      <a:srgbClr val="F7A177"/>
    </a:custClr>
  </a:custClrLst>
  <a:extLst>
    <a:ext uri="{05A4C25C-085E-4340-85A3-A5531E510DB2}">
      <thm15:themeFamily xmlns:thm15="http://schemas.microsoft.com/office/thememl/2012/main" name="Brand RR" id="{037D5E4D-12A6-4B66-B7D7-17661DF59EF1}" vid="{22D236A4-7B99-4E55-AD5A-C55A37F25B2D}"/>
    </a:ext>
  </a:extLst>
</a:theme>
</file>

<file path=ppt/theme/theme2.xml><?xml version="1.0" encoding="utf-8"?>
<a:theme xmlns:a="http://schemas.openxmlformats.org/drawingml/2006/main" name="RR Steel Options">
  <a:themeElements>
    <a:clrScheme name="RR 2">
      <a:dk1>
        <a:srgbClr val="000000"/>
      </a:dk1>
      <a:lt1>
        <a:sysClr val="window" lastClr="FFFFFF"/>
      </a:lt1>
      <a:dk2>
        <a:srgbClr val="676776"/>
      </a:dk2>
      <a:lt2>
        <a:srgbClr val="B4C7CD"/>
      </a:lt2>
      <a:accent1>
        <a:srgbClr val="281432"/>
      </a:accent1>
      <a:accent2>
        <a:srgbClr val="6D30A7"/>
      </a:accent2>
      <a:accent3>
        <a:srgbClr val="6FDBC7"/>
      </a:accent3>
      <a:accent4>
        <a:srgbClr val="F532D2"/>
      </a:accent4>
      <a:accent5>
        <a:srgbClr val="FF6432"/>
      </a:accent5>
      <a:accent6>
        <a:srgbClr val="F7A177"/>
      </a:accent6>
      <a:hlink>
        <a:srgbClr val="000000"/>
      </a:hlink>
      <a:folHlink>
        <a:srgbClr val="000000"/>
      </a:folHlink>
    </a:clrScheme>
    <a:fontScheme name="Rolls Royce New">
      <a:majorFont>
        <a:latin typeface="Riviera Nights Light"/>
        <a:ea typeface=""/>
        <a:cs typeface=""/>
      </a:majorFont>
      <a:minorFont>
        <a:latin typeface="Riviera Night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wrap="square" lIns="0" tIns="0" rIns="0" bIns="0" rtlCol="0" anchor="t" anchorCtr="0">
        <a:noAutofit/>
      </a:bodyPr>
      <a:lstStyle>
        <a:defPPr marL="0" indent="0" algn="l">
          <a:lnSpc>
            <a:spcPct val="100000"/>
          </a:lnSpc>
          <a:buClr>
            <a:srgbClr val="F7A177"/>
          </a:buClr>
          <a:buSzPct val="120000"/>
          <a:buFont typeface="Riviera Nights Light"/>
          <a:buNone/>
          <a:defRPr sz="2000" spc="5" dirty="0">
            <a:solidFill>
              <a:schemeClr val="bg1"/>
            </a:solidFill>
            <a:cs typeface="Arial"/>
          </a:defRPr>
        </a:defPPr>
      </a:lstStyle>
    </a:txDef>
  </a:objectDefaults>
  <a:extraClrSchemeLst/>
  <a:custClrLst>
    <a:custClr name="Steel">
      <a:srgbClr val="676776"/>
    </a:custClr>
    <a:custClr name="Pebble">
      <a:srgbClr val="D2D2D2"/>
    </a:custClr>
    <a:custClr name="Sky">
      <a:srgbClr val="B4C7CB"/>
    </a:custClr>
    <a:custClr name="Pearl">
      <a:srgbClr val="E7D2C3"/>
    </a:custClr>
    <a:custClr name="Sunset">
      <a:srgbClr val="F7A177"/>
    </a:custClr>
  </a:custClrLst>
  <a:extLst>
    <a:ext uri="{05A4C25C-085E-4340-85A3-A5531E510DB2}">
      <thm15:themeFamily xmlns:thm15="http://schemas.microsoft.com/office/thememl/2012/main" name="250331_PPT_PowerPoint Final.pptx  -  Schreibgeschützt" id="{DCA38C6B-B5FA-4618-AB1F-30CE66D7A6D9}" vid="{E39A0C03-C61B-4D89-9F55-6A362D9A7114}"/>
    </a:ext>
  </a:extLst>
</a:theme>
</file>

<file path=ppt/theme/theme3.xml><?xml version="1.0" encoding="utf-8"?>
<a:theme xmlns:a="http://schemas.openxmlformats.org/drawingml/2006/main" name="RR Purple Spirit Options">
  <a:themeElements>
    <a:clrScheme name="RR 2">
      <a:dk1>
        <a:srgbClr val="000000"/>
      </a:dk1>
      <a:lt1>
        <a:sysClr val="window" lastClr="FFFFFF"/>
      </a:lt1>
      <a:dk2>
        <a:srgbClr val="676776"/>
      </a:dk2>
      <a:lt2>
        <a:srgbClr val="B4C7CD"/>
      </a:lt2>
      <a:accent1>
        <a:srgbClr val="281432"/>
      </a:accent1>
      <a:accent2>
        <a:srgbClr val="6D30A7"/>
      </a:accent2>
      <a:accent3>
        <a:srgbClr val="6FDBC7"/>
      </a:accent3>
      <a:accent4>
        <a:srgbClr val="F532D2"/>
      </a:accent4>
      <a:accent5>
        <a:srgbClr val="FF6432"/>
      </a:accent5>
      <a:accent6>
        <a:srgbClr val="F7A177"/>
      </a:accent6>
      <a:hlink>
        <a:srgbClr val="000000"/>
      </a:hlink>
      <a:folHlink>
        <a:srgbClr val="000000"/>
      </a:folHlink>
    </a:clrScheme>
    <a:fontScheme name="Rolls Royce New">
      <a:majorFont>
        <a:latin typeface="Riviera Nights Light"/>
        <a:ea typeface=""/>
        <a:cs typeface=""/>
      </a:majorFont>
      <a:minorFont>
        <a:latin typeface="Riviera Night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wrap="square" lIns="0" tIns="0" rIns="0" bIns="0" rtlCol="0" anchor="t" anchorCtr="0">
        <a:noAutofit/>
      </a:bodyPr>
      <a:lstStyle>
        <a:defPPr marL="0" indent="0" algn="l">
          <a:lnSpc>
            <a:spcPct val="100000"/>
          </a:lnSpc>
          <a:buClr>
            <a:srgbClr val="F7A177"/>
          </a:buClr>
          <a:buSzPct val="120000"/>
          <a:buFont typeface="Riviera Nights Light"/>
          <a:buNone/>
          <a:defRPr sz="2000" spc="5" dirty="0">
            <a:solidFill>
              <a:schemeClr val="bg1"/>
            </a:solidFill>
            <a:cs typeface="Arial"/>
          </a:defRPr>
        </a:defPPr>
      </a:lstStyle>
    </a:txDef>
  </a:objectDefaults>
  <a:extraClrSchemeLst/>
  <a:custClrLst>
    <a:custClr name="Steel">
      <a:srgbClr val="676776"/>
    </a:custClr>
    <a:custClr name="Pebble">
      <a:srgbClr val="D2D2D2"/>
    </a:custClr>
    <a:custClr name="Sky">
      <a:srgbClr val="B4C7CB"/>
    </a:custClr>
    <a:custClr name="Pearl">
      <a:srgbClr val="E7D2C3"/>
    </a:custClr>
    <a:custClr name="Sunset">
      <a:srgbClr val="F7A177"/>
    </a:custClr>
  </a:custClrLst>
  <a:extLst>
    <a:ext uri="{05A4C25C-085E-4340-85A3-A5531E510DB2}">
      <thm15:themeFamily xmlns:thm15="http://schemas.microsoft.com/office/thememl/2012/main" name="250331_PPT_PowerPoint Final.pptx  -  Schreibgeschützt" id="{DCA38C6B-B5FA-4618-AB1F-30CE66D7A6D9}" vid="{29346966-F32C-43CC-94C7-ED4567909B7C}"/>
    </a:ext>
  </a:extLst>
</a:theme>
</file>

<file path=ppt/theme/theme4.xml><?xml version="1.0" encoding="utf-8"?>
<a:theme xmlns:a="http://schemas.openxmlformats.org/drawingml/2006/main" name="1_Brand RR">
  <a:themeElements>
    <a:clrScheme name="BMW Group Academy">
      <a:dk1>
        <a:srgbClr val="000000"/>
      </a:dk1>
      <a:lt1>
        <a:srgbClr val="FFFFFF"/>
      </a:lt1>
      <a:dk2>
        <a:srgbClr val="A50034"/>
      </a:dk2>
      <a:lt2>
        <a:srgbClr val="92A2BD"/>
      </a:lt2>
      <a:accent1>
        <a:srgbClr val="C04D71"/>
      </a:accent1>
      <a:accent2>
        <a:srgbClr val="D589A1"/>
      </a:accent2>
      <a:accent3>
        <a:srgbClr val="E7BBC9"/>
      </a:accent3>
      <a:accent4>
        <a:srgbClr val="F4E0E6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Rolls Royce New">
      <a:majorFont>
        <a:latin typeface="Riviera Nights Light"/>
        <a:ea typeface=""/>
        <a:cs typeface=""/>
      </a:majorFont>
      <a:minorFont>
        <a:latin typeface="Riviera Night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wrap="square" lIns="0" tIns="0" rIns="0" bIns="0" rtlCol="0" anchor="t" anchorCtr="0">
        <a:noAutofit/>
      </a:bodyPr>
      <a:lstStyle>
        <a:defPPr marL="0" indent="0" algn="l">
          <a:lnSpc>
            <a:spcPct val="100000"/>
          </a:lnSpc>
          <a:buClr>
            <a:srgbClr val="F7A177"/>
          </a:buClr>
          <a:buSzPct val="120000"/>
          <a:buFont typeface="Riviera Nights Light"/>
          <a:buNone/>
          <a:defRPr sz="2000" spc="5" dirty="0">
            <a:solidFill>
              <a:schemeClr val="bg1"/>
            </a:solidFill>
            <a:cs typeface="Arial"/>
          </a:defRPr>
        </a:defPPr>
      </a:lstStyle>
    </a:txDef>
  </a:objectDefaults>
  <a:extraClrSchemeLst/>
  <a:custClrLst>
    <a:custClr name="Steel">
      <a:srgbClr val="676776"/>
    </a:custClr>
    <a:custClr name="Pebble">
      <a:srgbClr val="D2D2D2"/>
    </a:custClr>
    <a:custClr name="Sky">
      <a:srgbClr val="B4C7CB"/>
    </a:custClr>
    <a:custClr name="Pearl">
      <a:srgbClr val="E7D2C3"/>
    </a:custClr>
    <a:custClr name="Sunset">
      <a:srgbClr val="F7A177"/>
    </a:custClr>
  </a:custClrLst>
  <a:extLst>
    <a:ext uri="{05A4C25C-085E-4340-85A3-A5531E510DB2}">
      <thm15:themeFamily xmlns:thm15="http://schemas.microsoft.com/office/thememl/2012/main" name="Brand RR" id="{037D5E4D-12A6-4B66-B7D7-17661DF59EF1}" vid="{22D236A4-7B99-4E55-AD5A-C55A37F25B2D}"/>
    </a:ext>
  </a:extLst>
</a:theme>
</file>

<file path=ppt/theme/theme5.xml><?xml version="1.0" encoding="utf-8"?>
<a:theme xmlns:a="http://schemas.openxmlformats.org/drawingml/2006/main" name="1_RR Steel Options">
  <a:themeElements>
    <a:clrScheme name="RR 2">
      <a:dk1>
        <a:srgbClr val="000000"/>
      </a:dk1>
      <a:lt1>
        <a:sysClr val="window" lastClr="FFFFFF"/>
      </a:lt1>
      <a:dk2>
        <a:srgbClr val="676776"/>
      </a:dk2>
      <a:lt2>
        <a:srgbClr val="B4C7CD"/>
      </a:lt2>
      <a:accent1>
        <a:srgbClr val="281432"/>
      </a:accent1>
      <a:accent2>
        <a:srgbClr val="6D30A7"/>
      </a:accent2>
      <a:accent3>
        <a:srgbClr val="6FDBC7"/>
      </a:accent3>
      <a:accent4>
        <a:srgbClr val="F532D2"/>
      </a:accent4>
      <a:accent5>
        <a:srgbClr val="FF6432"/>
      </a:accent5>
      <a:accent6>
        <a:srgbClr val="F7A177"/>
      </a:accent6>
      <a:hlink>
        <a:srgbClr val="000000"/>
      </a:hlink>
      <a:folHlink>
        <a:srgbClr val="000000"/>
      </a:folHlink>
    </a:clrScheme>
    <a:fontScheme name="Rolls Royce New">
      <a:majorFont>
        <a:latin typeface="Riviera Nights Light"/>
        <a:ea typeface=""/>
        <a:cs typeface=""/>
      </a:majorFont>
      <a:minorFont>
        <a:latin typeface="Riviera Night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wrap="square" lIns="0" tIns="0" rIns="0" bIns="0" rtlCol="0" anchor="t" anchorCtr="0">
        <a:noAutofit/>
      </a:bodyPr>
      <a:lstStyle>
        <a:defPPr marL="0" indent="0" algn="l">
          <a:lnSpc>
            <a:spcPct val="100000"/>
          </a:lnSpc>
          <a:buClr>
            <a:srgbClr val="F7A177"/>
          </a:buClr>
          <a:buSzPct val="120000"/>
          <a:buFont typeface="Riviera Nights Light"/>
          <a:buNone/>
          <a:defRPr sz="2000" spc="5" dirty="0">
            <a:solidFill>
              <a:schemeClr val="bg1"/>
            </a:solidFill>
            <a:cs typeface="Arial"/>
          </a:defRPr>
        </a:defPPr>
      </a:lstStyle>
    </a:txDef>
  </a:objectDefaults>
  <a:extraClrSchemeLst/>
  <a:custClrLst>
    <a:custClr name="Steel">
      <a:srgbClr val="676776"/>
    </a:custClr>
    <a:custClr name="Pebble">
      <a:srgbClr val="D2D2D2"/>
    </a:custClr>
    <a:custClr name="Sky">
      <a:srgbClr val="B4C7CB"/>
    </a:custClr>
    <a:custClr name="Pearl">
      <a:srgbClr val="E7D2C3"/>
    </a:custClr>
    <a:custClr name="Sunset">
      <a:srgbClr val="F7A177"/>
    </a:custClr>
  </a:custClrLst>
  <a:extLst>
    <a:ext uri="{05A4C25C-085E-4340-85A3-A5531E510DB2}">
      <thm15:themeFamily xmlns:thm15="http://schemas.microsoft.com/office/thememl/2012/main" name="250331_PPT_PowerPoint Final.pptx  -  Schreibgeschützt" id="{DCA38C6B-B5FA-4618-AB1F-30CE66D7A6D9}" vid="{E39A0C03-C61B-4D89-9F55-6A362D9A7114}"/>
    </a:ext>
  </a:extLst>
</a:theme>
</file>

<file path=ppt/theme/theme6.xml><?xml version="1.0" encoding="utf-8"?>
<a:theme xmlns:a="http://schemas.openxmlformats.org/drawingml/2006/main" name="1_RR Purple Spirit Options">
  <a:themeElements>
    <a:clrScheme name="RR 2">
      <a:dk1>
        <a:srgbClr val="000000"/>
      </a:dk1>
      <a:lt1>
        <a:sysClr val="window" lastClr="FFFFFF"/>
      </a:lt1>
      <a:dk2>
        <a:srgbClr val="676776"/>
      </a:dk2>
      <a:lt2>
        <a:srgbClr val="B4C7CD"/>
      </a:lt2>
      <a:accent1>
        <a:srgbClr val="281432"/>
      </a:accent1>
      <a:accent2>
        <a:srgbClr val="6D30A7"/>
      </a:accent2>
      <a:accent3>
        <a:srgbClr val="6FDBC7"/>
      </a:accent3>
      <a:accent4>
        <a:srgbClr val="F532D2"/>
      </a:accent4>
      <a:accent5>
        <a:srgbClr val="FF6432"/>
      </a:accent5>
      <a:accent6>
        <a:srgbClr val="F7A177"/>
      </a:accent6>
      <a:hlink>
        <a:srgbClr val="000000"/>
      </a:hlink>
      <a:folHlink>
        <a:srgbClr val="000000"/>
      </a:folHlink>
    </a:clrScheme>
    <a:fontScheme name="Rolls Royce New">
      <a:majorFont>
        <a:latin typeface="Riviera Nights Light"/>
        <a:ea typeface=""/>
        <a:cs typeface=""/>
      </a:majorFont>
      <a:minorFont>
        <a:latin typeface="Riviera Night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wrap="square" lIns="0" tIns="0" rIns="0" bIns="0" rtlCol="0" anchor="t" anchorCtr="0">
        <a:noAutofit/>
      </a:bodyPr>
      <a:lstStyle>
        <a:defPPr marL="0" indent="0" algn="l">
          <a:lnSpc>
            <a:spcPct val="100000"/>
          </a:lnSpc>
          <a:buClr>
            <a:srgbClr val="F7A177"/>
          </a:buClr>
          <a:buSzPct val="120000"/>
          <a:buFont typeface="Riviera Nights Light"/>
          <a:buNone/>
          <a:defRPr sz="2000" spc="5" dirty="0">
            <a:solidFill>
              <a:schemeClr val="bg1"/>
            </a:solidFill>
            <a:cs typeface="Arial"/>
          </a:defRPr>
        </a:defPPr>
      </a:lstStyle>
    </a:txDef>
  </a:objectDefaults>
  <a:extraClrSchemeLst/>
  <a:custClrLst>
    <a:custClr name="Steel">
      <a:srgbClr val="676776"/>
    </a:custClr>
    <a:custClr name="Pebble">
      <a:srgbClr val="D2D2D2"/>
    </a:custClr>
    <a:custClr name="Sky">
      <a:srgbClr val="B4C7CB"/>
    </a:custClr>
    <a:custClr name="Pearl">
      <a:srgbClr val="E7D2C3"/>
    </a:custClr>
    <a:custClr name="Sunset">
      <a:srgbClr val="F7A177"/>
    </a:custClr>
  </a:custClrLst>
  <a:extLst>
    <a:ext uri="{05A4C25C-085E-4340-85A3-A5531E510DB2}">
      <thm15:themeFamily xmlns:thm15="http://schemas.microsoft.com/office/thememl/2012/main" name="250331_PPT_PowerPoint Final.pptx  -  Schreibgeschützt" id="{DCA38C6B-B5FA-4618-AB1F-30CE66D7A6D9}" vid="{29346966-F32C-43CC-94C7-ED4567909B7C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Brand RR</Template>
  <TotalTime>0</TotalTime>
  <Words>504</Words>
  <Application>Microsoft Office PowerPoint</Application>
  <PresentationFormat>Widescreen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Aptos</vt:lpstr>
      <vt:lpstr>Arial</vt:lpstr>
      <vt:lpstr>BMW Group Condensed</vt:lpstr>
      <vt:lpstr>Riviera Nights Light</vt:lpstr>
      <vt:lpstr>Riviera Nights Medium</vt:lpstr>
      <vt:lpstr>Times New Roman</vt:lpstr>
      <vt:lpstr>Brand RR</vt:lpstr>
      <vt:lpstr>RR Steel Options</vt:lpstr>
      <vt:lpstr>RR Purple Spirit Options</vt:lpstr>
      <vt:lpstr>1_Brand RR</vt:lpstr>
      <vt:lpstr>1_RR Steel Options</vt:lpstr>
      <vt:lpstr>1_RR Purple Spirit Options</vt:lpstr>
      <vt:lpstr>1: The Gap we face today </vt:lpstr>
      <vt:lpstr>2: Why do existing LLM-based tools not solve these problems? </vt:lpstr>
      <vt:lpstr>3: What does our system introduce that didn’t exist before? </vt:lpstr>
      <vt:lpstr>4: What does our architecture make possible?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Zitong Wang</dc:creator>
  <cp:lastModifiedBy>Wang Zitong, EF-705</cp:lastModifiedBy>
  <cp:revision>6</cp:revision>
  <dcterms:created xsi:type="dcterms:W3CDTF">2026-01-26T19:51:51Z</dcterms:created>
  <dcterms:modified xsi:type="dcterms:W3CDTF">2026-02-04T10:35:22Z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Brand RR:8\RR Steel Options:8\RR Purple Spirit Options:8\1_Brand RR:8\1_RR Steel Options:8\1_RR Purple Spirit Options:8</vt:lpwstr>
  </property>
  <property fmtid="{D5CDD505-2E9C-101B-9397-08002B2CF9AE}" pid="3" name="ClassificationContentMarkingFooterText">
    <vt:lpwstr>CONFIDENTIAL</vt:lpwstr>
  </property>
</Properties>
</file>